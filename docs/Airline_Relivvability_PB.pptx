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</p:sldMasterIdLst>
  <p:notesMasterIdLst>
    <p:notesMasterId r:id="rId22"/>
  </p:notesMasterIdLst>
  <p:handoutMasterIdLst>
    <p:handoutMasterId r:id="rId23"/>
  </p:handoutMasterIdLst>
  <p:sldIdLst>
    <p:sldId id="256" r:id="rId5"/>
    <p:sldId id="257" r:id="rId6"/>
    <p:sldId id="258" r:id="rId7"/>
    <p:sldId id="270" r:id="rId8"/>
    <p:sldId id="260" r:id="rId9"/>
    <p:sldId id="261" r:id="rId10"/>
    <p:sldId id="262" r:id="rId11"/>
    <p:sldId id="263" r:id="rId12"/>
    <p:sldId id="264" r:id="rId13"/>
    <p:sldId id="265" r:id="rId14"/>
    <p:sldId id="269" r:id="rId15"/>
    <p:sldId id="267" r:id="rId16"/>
    <p:sldId id="273" r:id="rId17"/>
    <p:sldId id="276" r:id="rId18"/>
    <p:sldId id="275" r:id="rId19"/>
    <p:sldId id="268" r:id="rId20"/>
    <p:sldId id="271" r:id="rId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D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C70D82-C5C0-44CA-8A9A-050937EBC620}" v="2" dt="2026-09-02T06:29:53.0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6311"/>
  </p:normalViewPr>
  <p:slideViewPr>
    <p:cSldViewPr snapToGrid="0">
      <p:cViewPr varScale="1">
        <p:scale>
          <a:sx n="100" d="100"/>
          <a:sy n="100" d="100"/>
        </p:scale>
        <p:origin x="114" y="3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Blechert" userId="d1f4340c484e6b4d" providerId="LiveId" clId="{C61B02FD-3862-4431-89D2-8A4641263688}"/>
    <pc:docChg chg="undo custSel modSld">
      <pc:chgData name="Peter Blechert" userId="d1f4340c484e6b4d" providerId="LiveId" clId="{C61B02FD-3862-4431-89D2-8A4641263688}" dt="2026-09-02T06:36:35.972" v="141" actId="1036"/>
      <pc:docMkLst>
        <pc:docMk/>
      </pc:docMkLst>
      <pc:sldChg chg="modSp mod">
        <pc:chgData name="Peter Blechert" userId="d1f4340c484e6b4d" providerId="LiveId" clId="{C61B02FD-3862-4431-89D2-8A4641263688}" dt="2026-09-02T06:13:44.222" v="1" actId="20577"/>
        <pc:sldMkLst>
          <pc:docMk/>
          <pc:sldMk cId="0" sldId="257"/>
        </pc:sldMkLst>
        <pc:spChg chg="mod">
          <ac:chgData name="Peter Blechert" userId="d1f4340c484e6b4d" providerId="LiveId" clId="{C61B02FD-3862-4431-89D2-8A4641263688}" dt="2026-09-02T06:13:44.222" v="1" actId="20577"/>
          <ac:spMkLst>
            <pc:docMk/>
            <pc:sldMk cId="0" sldId="257"/>
            <ac:spMk id="7" creationId="{00000000-0000-0000-0000-000000000000}"/>
          </ac:spMkLst>
        </pc:spChg>
      </pc:sldChg>
      <pc:sldChg chg="modSp mod">
        <pc:chgData name="Peter Blechert" userId="d1f4340c484e6b4d" providerId="LiveId" clId="{C61B02FD-3862-4431-89D2-8A4641263688}" dt="2026-09-02T06:33:56.907" v="94" actId="1035"/>
        <pc:sldMkLst>
          <pc:docMk/>
          <pc:sldMk cId="0" sldId="259"/>
        </pc:sldMkLst>
        <pc:spChg chg="mod">
          <ac:chgData name="Peter Blechert" userId="d1f4340c484e6b4d" providerId="LiveId" clId="{C61B02FD-3862-4431-89D2-8A4641263688}" dt="2026-09-02T06:33:56.907" v="94" actId="1035"/>
          <ac:spMkLst>
            <pc:docMk/>
            <pc:sldMk cId="0" sldId="259"/>
            <ac:spMk id="6" creationId="{00000000-0000-0000-0000-000000000000}"/>
          </ac:spMkLst>
        </pc:spChg>
      </pc:sldChg>
      <pc:sldChg chg="modSp mod">
        <pc:chgData name="Peter Blechert" userId="d1f4340c484e6b4d" providerId="LiveId" clId="{C61B02FD-3862-4431-89D2-8A4641263688}" dt="2026-09-02T06:34:24.093" v="96" actId="113"/>
        <pc:sldMkLst>
          <pc:docMk/>
          <pc:sldMk cId="0" sldId="260"/>
        </pc:sldMkLst>
        <pc:spChg chg="mod">
          <ac:chgData name="Peter Blechert" userId="d1f4340c484e6b4d" providerId="LiveId" clId="{C61B02FD-3862-4431-89D2-8A4641263688}" dt="2026-09-02T06:34:24.093" v="96" actId="113"/>
          <ac:spMkLst>
            <pc:docMk/>
            <pc:sldMk cId="0" sldId="260"/>
            <ac:spMk id="5" creationId="{00000000-0000-0000-0000-000000000000}"/>
          </ac:spMkLst>
        </pc:spChg>
      </pc:sldChg>
      <pc:sldChg chg="addSp delSp modSp mod">
        <pc:chgData name="Peter Blechert" userId="d1f4340c484e6b4d" providerId="LiveId" clId="{C61B02FD-3862-4431-89D2-8A4641263688}" dt="2026-09-02T06:28:44.215" v="48" actId="113"/>
        <pc:sldMkLst>
          <pc:docMk/>
          <pc:sldMk cId="0" sldId="262"/>
        </pc:sldMkLst>
        <pc:spChg chg="del">
          <ac:chgData name="Peter Blechert" userId="d1f4340c484e6b4d" providerId="LiveId" clId="{C61B02FD-3862-4431-89D2-8A4641263688}" dt="2026-09-02T06:28:06.584" v="44" actId="478"/>
          <ac:spMkLst>
            <pc:docMk/>
            <pc:sldMk cId="0" sldId="262"/>
            <ac:spMk id="12" creationId="{00000000-0000-0000-0000-000000000000}"/>
          </ac:spMkLst>
        </pc:spChg>
        <pc:spChg chg="add mod">
          <ac:chgData name="Peter Blechert" userId="d1f4340c484e6b4d" providerId="LiveId" clId="{C61B02FD-3862-4431-89D2-8A4641263688}" dt="2026-09-02T06:28:44.215" v="48" actId="113"/>
          <ac:spMkLst>
            <pc:docMk/>
            <pc:sldMk cId="0" sldId="262"/>
            <ac:spMk id="13" creationId="{78772B43-FDA6-02DD-C2CA-31F6F3942D82}"/>
          </ac:spMkLst>
        </pc:spChg>
      </pc:sldChg>
      <pc:sldChg chg="modSp mod">
        <pc:chgData name="Peter Blechert" userId="d1f4340c484e6b4d" providerId="LiveId" clId="{C61B02FD-3862-4431-89D2-8A4641263688}" dt="2026-09-02T06:35:00.720" v="104" actId="1036"/>
        <pc:sldMkLst>
          <pc:docMk/>
          <pc:sldMk cId="0" sldId="263"/>
        </pc:sldMkLst>
        <pc:spChg chg="mod">
          <ac:chgData name="Peter Blechert" userId="d1f4340c484e6b4d" providerId="LiveId" clId="{C61B02FD-3862-4431-89D2-8A4641263688}" dt="2026-09-02T06:35:00.720" v="104" actId="1036"/>
          <ac:spMkLst>
            <pc:docMk/>
            <pc:sldMk cId="0" sldId="263"/>
            <ac:spMk id="5" creationId="{00000000-0000-0000-0000-000000000000}"/>
          </ac:spMkLst>
        </pc:spChg>
      </pc:sldChg>
      <pc:sldChg chg="modSp mod">
        <pc:chgData name="Peter Blechert" userId="d1f4340c484e6b4d" providerId="LiveId" clId="{C61B02FD-3862-4431-89D2-8A4641263688}" dt="2026-09-02T06:31:12.137" v="53" actId="255"/>
        <pc:sldMkLst>
          <pc:docMk/>
          <pc:sldMk cId="0" sldId="264"/>
        </pc:sldMkLst>
        <pc:spChg chg="mod">
          <ac:chgData name="Peter Blechert" userId="d1f4340c484e6b4d" providerId="LiveId" clId="{C61B02FD-3862-4431-89D2-8A4641263688}" dt="2026-09-02T06:31:12.137" v="53" actId="255"/>
          <ac:spMkLst>
            <pc:docMk/>
            <pc:sldMk cId="0" sldId="264"/>
            <ac:spMk id="25" creationId="{00000000-0000-0000-0000-000000000000}"/>
          </ac:spMkLst>
        </pc:spChg>
      </pc:sldChg>
      <pc:sldChg chg="modSp mod">
        <pc:chgData name="Peter Blechert" userId="d1f4340c484e6b4d" providerId="LiveId" clId="{C61B02FD-3862-4431-89D2-8A4641263688}" dt="2026-09-02T06:35:32.701" v="108" actId="1036"/>
        <pc:sldMkLst>
          <pc:docMk/>
          <pc:sldMk cId="0" sldId="265"/>
        </pc:sldMkLst>
        <pc:spChg chg="mod">
          <ac:chgData name="Peter Blechert" userId="d1f4340c484e6b4d" providerId="LiveId" clId="{C61B02FD-3862-4431-89D2-8A4641263688}" dt="2026-09-02T06:35:32.701" v="108" actId="1036"/>
          <ac:spMkLst>
            <pc:docMk/>
            <pc:sldMk cId="0" sldId="265"/>
            <ac:spMk id="5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0:18.689" v="52" actId="113"/>
          <ac:spMkLst>
            <pc:docMk/>
            <pc:sldMk cId="0" sldId="265"/>
            <ac:spMk id="23" creationId="{00000000-0000-0000-0000-000000000000}"/>
          </ac:spMkLst>
        </pc:spChg>
      </pc:sldChg>
      <pc:sldChg chg="modSp mod">
        <pc:chgData name="Peter Blechert" userId="d1f4340c484e6b4d" providerId="LiveId" clId="{C61B02FD-3862-4431-89D2-8A4641263688}" dt="2026-09-02T06:36:07.125" v="126" actId="1036"/>
        <pc:sldMkLst>
          <pc:docMk/>
          <pc:sldMk cId="0" sldId="266"/>
        </pc:sldMkLst>
        <pc:spChg chg="mod">
          <ac:chgData name="Peter Blechert" userId="d1f4340c484e6b4d" providerId="LiveId" clId="{C61B02FD-3862-4431-89D2-8A4641263688}" dt="2026-09-02T06:36:07.125" v="126" actId="1036"/>
          <ac:spMkLst>
            <pc:docMk/>
            <pc:sldMk cId="0" sldId="266"/>
            <ac:spMk id="5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6:07.125" v="126" actId="1036"/>
          <ac:spMkLst>
            <pc:docMk/>
            <pc:sldMk cId="0" sldId="266"/>
            <ac:spMk id="7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6:07.125" v="126" actId="1036"/>
          <ac:spMkLst>
            <pc:docMk/>
            <pc:sldMk cId="0" sldId="266"/>
            <ac:spMk id="8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6:07.125" v="126" actId="1036"/>
          <ac:spMkLst>
            <pc:docMk/>
            <pc:sldMk cId="0" sldId="266"/>
            <ac:spMk id="9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6:07.125" v="126" actId="103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1:28.015" v="55" actId="113"/>
          <ac:spMkLst>
            <pc:docMk/>
            <pc:sldMk cId="0" sldId="266"/>
            <ac:spMk id="11" creationId="{00000000-0000-0000-0000-000000000000}"/>
          </ac:spMkLst>
        </pc:spChg>
        <pc:picChg chg="mod">
          <ac:chgData name="Peter Blechert" userId="d1f4340c484e6b4d" providerId="LiveId" clId="{C61B02FD-3862-4431-89D2-8A4641263688}" dt="2026-09-02T06:36:07.125" v="126" actId="1036"/>
          <ac:picMkLst>
            <pc:docMk/>
            <pc:sldMk cId="0" sldId="266"/>
            <ac:picMk id="6" creationId="{00000000-0000-0000-0000-000000000000}"/>
          </ac:picMkLst>
        </pc:picChg>
      </pc:sldChg>
      <pc:sldChg chg="modSp mod">
        <pc:chgData name="Peter Blechert" userId="d1f4340c484e6b4d" providerId="LiveId" clId="{C61B02FD-3862-4431-89D2-8A4641263688}" dt="2026-09-02T06:36:35.972" v="141" actId="1036"/>
        <pc:sldMkLst>
          <pc:docMk/>
          <pc:sldMk cId="0" sldId="267"/>
        </pc:sldMkLst>
        <pc:spChg chg="mod">
          <ac:chgData name="Peter Blechert" userId="d1f4340c484e6b4d" providerId="LiveId" clId="{C61B02FD-3862-4431-89D2-8A4641263688}" dt="2026-09-02T06:36:35.972" v="141" actId="1036"/>
          <ac:spMkLst>
            <pc:docMk/>
            <pc:sldMk cId="0" sldId="267"/>
            <ac:spMk id="5" creationId="{00000000-0000-0000-0000-000000000000}"/>
          </ac:spMkLst>
        </pc:spChg>
        <pc:spChg chg="mod">
          <ac:chgData name="Peter Blechert" userId="d1f4340c484e6b4d" providerId="LiveId" clId="{C61B02FD-3862-4431-89D2-8A4641263688}" dt="2026-09-02T06:31:37.031" v="57" actId="113"/>
          <ac:spMkLst>
            <pc:docMk/>
            <pc:sldMk cId="0" sldId="267"/>
            <ac:spMk id="17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AD1B1D2-63FC-4CD3-E539-ACF1F404BB7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6A9716E-3564-3E88-D126-25C894C4CA2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F752A9-003E-4083-9847-72AB3F27C035}" type="datetimeFigureOut">
              <a:rPr lang="de-DE" smtClean="0"/>
              <a:t>03.09.2026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1C78FA7-4ED0-102A-627D-E9FE3381B0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C926AD6-72F8-2034-146F-D82CC4869E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A65C52-4DFC-4F14-A37C-948ACAE5FB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092944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3AC1BD-E3F7-4C50-97FB-293B748B6C7F}" type="datetimeFigureOut">
              <a:rPr lang="de-DE" smtClean="0"/>
              <a:t>03.09.2026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6D4113-1DEC-41A9-89D0-906BFF289B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90279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58BB7E62-6957-DF19-5386-11DB9E539C94}"/>
              </a:ext>
            </a:extLst>
          </p:cNvPr>
          <p:cNvSpPr/>
          <p:nvPr userDrawn="1"/>
        </p:nvSpPr>
        <p:spPr bwMode="auto">
          <a:xfrm>
            <a:off x="1" y="0"/>
            <a:ext cx="12192000" cy="6308608"/>
          </a:xfrm>
          <a:prstGeom prst="rect">
            <a:avLst/>
          </a:prstGeom>
          <a:solidFill>
            <a:srgbClr val="0C7D2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F83D70-91AA-429A-BD57-1CB6792B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78030"/>
            <a:ext cx="9288096" cy="2956718"/>
          </a:xfrm>
        </p:spPr>
        <p:txBody>
          <a:bodyPr anchor="t">
            <a:noAutofit/>
          </a:bodyPr>
          <a:lstStyle>
            <a:lvl1pPr algn="l">
              <a:defRPr sz="6600" cap="all" baseline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4455621"/>
            <a:ext cx="9288096" cy="1435331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3" name="Grafik 12" descr="Ein Bild, das Grün, Schrift, Grafiken, Screenshot enthält.&#10;&#10;Automatisch generierte Beschreibung">
            <a:extLst>
              <a:ext uri="{FF2B5EF4-FFF2-40B4-BE49-F238E27FC236}">
                <a16:creationId xmlns:a16="http://schemas.microsoft.com/office/drawing/2014/main" id="{9DD99FEB-A992-9E44-EF64-2829B67AF5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5703" b="36641"/>
          <a:stretch/>
        </p:blipFill>
        <p:spPr>
          <a:xfrm>
            <a:off x="9747739" y="190265"/>
            <a:ext cx="2287098" cy="63252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97A1D6AB-AD74-41A1-EF93-47EF50602521}"/>
              </a:ext>
            </a:extLst>
          </p:cNvPr>
          <p:cNvSpPr txBox="1"/>
          <p:nvPr userDrawn="1"/>
        </p:nvSpPr>
        <p:spPr>
          <a:xfrm>
            <a:off x="11743267" y="651933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34265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34951"/>
            <a:ext cx="11522075" cy="11430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9096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67900" y="1556792"/>
            <a:ext cx="5656092" cy="4114800"/>
          </a:xfrm>
        </p:spPr>
        <p:txBody>
          <a:bodyPr/>
          <a:lstStyle>
            <a:lvl1pPr>
              <a:defRPr sz="20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1pPr>
            <a:lvl2pPr>
              <a:defRPr sz="18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2pPr>
            <a:lvl3pPr>
              <a:defRPr sz="16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3pPr>
            <a:lvl4pPr>
              <a:defRPr sz="14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5" name="Inhaltsplatzhalter 2"/>
          <p:cNvSpPr>
            <a:spLocks noGrp="1"/>
          </p:cNvSpPr>
          <p:nvPr>
            <p:ph sz="half" idx="10"/>
          </p:nvPr>
        </p:nvSpPr>
        <p:spPr>
          <a:xfrm>
            <a:off x="6312024" y="1558064"/>
            <a:ext cx="5545014" cy="4114800"/>
          </a:xfrm>
        </p:spPr>
        <p:txBody>
          <a:bodyPr/>
          <a:lstStyle>
            <a:lvl1pPr>
              <a:defRPr sz="20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1pPr>
            <a:lvl2pPr>
              <a:defRPr sz="18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2pPr>
            <a:lvl3pPr>
              <a:defRPr sz="16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3pPr>
            <a:lvl4pPr>
              <a:defRPr sz="1400">
                <a:latin typeface="Helvetica" panose="020B0604020202020204" pitchFamily="34" charset="0"/>
                <a:ea typeface="Tahoma" panose="020B0604030504040204" pitchFamily="34" charset="0"/>
                <a:cs typeface="Helvetica" panose="020B0604020202020204" pitchFamily="34" charset="0"/>
              </a:defRPr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354416" y="280068"/>
            <a:ext cx="1150262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de-DE" altLang="de-DE" dirty="0"/>
              <a:t>Click </a:t>
            </a:r>
            <a:r>
              <a:rPr lang="de-DE" altLang="de-DE" dirty="0" err="1"/>
              <a:t>to</a:t>
            </a:r>
            <a:r>
              <a:rPr lang="de-DE" altLang="de-DE" dirty="0"/>
              <a:t> </a:t>
            </a:r>
            <a:r>
              <a:rPr lang="de-DE" altLang="de-DE" dirty="0" err="1"/>
              <a:t>edit</a:t>
            </a:r>
            <a:r>
              <a:rPr lang="de-DE" altLang="de-DE" dirty="0"/>
              <a:t> </a:t>
            </a:r>
            <a:r>
              <a:rPr lang="de-DE" altLang="de-DE" dirty="0" err="1"/>
              <a:t>master</a:t>
            </a:r>
            <a:r>
              <a:rPr lang="de-DE" altLang="de-DE" dirty="0"/>
              <a:t> </a:t>
            </a:r>
            <a:r>
              <a:rPr lang="de-DE" altLang="de-DE" dirty="0" err="1"/>
              <a:t>titel</a:t>
            </a:r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605918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769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34963" y="277813"/>
            <a:ext cx="1152207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4963" y="1585913"/>
            <a:ext cx="115220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Klicken Sie, um die Formate des Vorlagentextes zu bearbeiten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  <a:p>
            <a:pPr lvl="4"/>
            <a:r>
              <a:rPr lang="de-DE" altLang="de-DE" dirty="0"/>
              <a:t>Fünfte Ebene</a:t>
            </a:r>
          </a:p>
        </p:txBody>
      </p:sp>
      <p:sp>
        <p:nvSpPr>
          <p:cNvPr id="1030" name="Text Box 13"/>
          <p:cNvSpPr txBox="1">
            <a:spLocks noChangeArrowheads="1"/>
          </p:cNvSpPr>
          <p:nvPr userDrawn="1"/>
        </p:nvSpPr>
        <p:spPr bwMode="auto">
          <a:xfrm>
            <a:off x="0" y="6281738"/>
            <a:ext cx="12192000" cy="576262"/>
          </a:xfrm>
          <a:prstGeom prst="rect">
            <a:avLst/>
          </a:prstGeom>
          <a:solidFill>
            <a:srgbClr val="0C7D2C"/>
          </a:solidFill>
          <a:ln>
            <a:noFill/>
          </a:ln>
        </p:spPr>
        <p:txBody>
          <a:bodyPr tIns="370800" bIns="262800"/>
          <a:lstStyle>
            <a:lvl1pPr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5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de-DE" altLang="de-DE" b="1" u="sng">
              <a:latin typeface="Tahoma" panose="020B0604030504040204" pitchFamily="34" charset="0"/>
            </a:endParaRPr>
          </a:p>
        </p:txBody>
      </p:sp>
      <p:sp>
        <p:nvSpPr>
          <p:cNvPr id="12" name="Text Box 23"/>
          <p:cNvSpPr txBox="1">
            <a:spLocks noChangeArrowheads="1"/>
          </p:cNvSpPr>
          <p:nvPr userDrawn="1"/>
        </p:nvSpPr>
        <p:spPr bwMode="auto">
          <a:xfrm>
            <a:off x="0" y="6453188"/>
            <a:ext cx="11576114" cy="230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GB" altLang="de-DE" sz="9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       </a:t>
            </a:r>
            <a:r>
              <a:rPr lang="en-GB" altLang="de-DE" sz="9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Greenbootcamps</a:t>
            </a:r>
            <a:r>
              <a:rPr lang="en-GB" altLang="de-DE" sz="9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 GmbH</a:t>
            </a:r>
            <a:r>
              <a:rPr lang="en-GB" altLang="de-DE" sz="9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  <a:sym typeface="Symbol" panose="05050102010706020507" pitchFamily="18" charset="2"/>
              </a:rPr>
              <a:t>	   	        	                                                                                                     			</a:t>
            </a:r>
            <a:endParaRPr lang="de-DE" altLang="de-DE" sz="9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" name="Grafik 4" descr="Ein Bild, das Grafiken, Schrift, Grafikdesign, Screenshot enthält.&#10;&#10;Automatisch generierte Beschreibung">
            <a:extLst>
              <a:ext uri="{FF2B5EF4-FFF2-40B4-BE49-F238E27FC236}">
                <a16:creationId xmlns:a16="http://schemas.microsoft.com/office/drawing/2014/main" id="{E5D63919-B2BF-A73B-B76D-665DF60AFFB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972675" y="0"/>
            <a:ext cx="2079626" cy="1039813"/>
          </a:xfrm>
          <a:prstGeom prst="rect">
            <a:avLst/>
          </a:prstGeom>
        </p:spPr>
      </p:pic>
      <p:cxnSp>
        <p:nvCxnSpPr>
          <p:cNvPr id="7" name="Gerade Verbindung 6">
            <a:extLst>
              <a:ext uri="{FF2B5EF4-FFF2-40B4-BE49-F238E27FC236}">
                <a16:creationId xmlns:a16="http://schemas.microsoft.com/office/drawing/2014/main" id="{9C410640-8FEC-A6CF-ABA3-1FB242BC48E4}"/>
              </a:ext>
            </a:extLst>
          </p:cNvPr>
          <p:cNvCxnSpPr/>
          <p:nvPr userDrawn="1"/>
        </p:nvCxnSpPr>
        <p:spPr bwMode="auto">
          <a:xfrm>
            <a:off x="0" y="1392238"/>
            <a:ext cx="1157288" cy="0"/>
          </a:xfrm>
          <a:prstGeom prst="line">
            <a:avLst/>
          </a:prstGeom>
          <a:noFill/>
          <a:ln w="95250" cap="flat" cmpd="sng" algn="ctr">
            <a:solidFill>
              <a:srgbClr val="0C7D2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" name="TextBox 4">
            <a:extLst>
              <a:ext uri="{FF2B5EF4-FFF2-40B4-BE49-F238E27FC236}">
                <a16:creationId xmlns:a16="http://schemas.microsoft.com/office/drawing/2014/main" id="{89EF6F4D-0D8F-4C52-63A4-73B3F2A71984}"/>
              </a:ext>
            </a:extLst>
          </p:cNvPr>
          <p:cNvSpPr txBox="1"/>
          <p:nvPr userDrawn="1"/>
        </p:nvSpPr>
        <p:spPr>
          <a:xfrm>
            <a:off x="11576114" y="6453188"/>
            <a:ext cx="615886" cy="215444"/>
          </a:xfrm>
          <a:prstGeom prst="rect">
            <a:avLst/>
          </a:prstGeom>
          <a:noFill/>
        </p:spPr>
        <p:txBody>
          <a:bodyPr wrap="square" anchor="t" anchorCtr="0">
            <a:spAutoFit/>
          </a:bodyPr>
          <a:lstStyle/>
          <a:p>
            <a:pPr algn="ctr"/>
            <a:fld id="{26BEBEC2-555B-4F74-AE4A-AE9A68B5DD21}" type="slidenum">
              <a:rPr lang="de-DE" sz="800" b="1" smtClean="0">
                <a:solidFill>
                  <a:srgbClr val="DFF5E4"/>
                </a:solidFill>
                <a:latin typeface="Aptos"/>
              </a:rPr>
              <a:t>‹Nr.›</a:t>
            </a:fld>
            <a:r>
              <a:rPr lang="de-DE" sz="800" b="1" dirty="0">
                <a:solidFill>
                  <a:srgbClr val="DFF5E4"/>
                </a:solidFill>
                <a:latin typeface="Aptos"/>
              </a:rPr>
              <a:t>/14</a:t>
            </a:r>
            <a:endParaRPr sz="800" b="1" dirty="0">
              <a:solidFill>
                <a:srgbClr val="00502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476300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2">
              <a:lumMod val="7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595959"/>
          </a:solidFill>
          <a:latin typeface="Helvetica-Bold"/>
          <a:cs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595959"/>
          </a:solidFill>
          <a:latin typeface="Helvetica-Bold"/>
          <a:cs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595959"/>
          </a:solidFill>
          <a:latin typeface="Helvetica-Bold"/>
          <a:cs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595959"/>
          </a:solidFill>
          <a:latin typeface="Helvetica-Bold"/>
          <a:cs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400" b="1">
          <a:solidFill>
            <a:srgbClr val="646B86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400" b="1">
          <a:solidFill>
            <a:srgbClr val="646B86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400" b="1">
          <a:solidFill>
            <a:srgbClr val="646B86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400" b="1">
          <a:solidFill>
            <a:srgbClr val="646B8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Font typeface="Arial" panose="020B0604020202020204" pitchFamily="34" charset="0"/>
        <a:buChar char="•"/>
        <a:defRPr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Char char="–"/>
        <a:defRPr sz="1600"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Char char="•"/>
        <a:defRPr sz="1400"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Font typeface="Symbol" panose="05050102010706020507" pitchFamily="18" charset="2"/>
        <a:buChar char="-"/>
        <a:defRPr sz="1200"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6F6F6F"/>
        </a:buClr>
        <a:buChar char="»"/>
        <a:defRPr sz="1000">
          <a:solidFill>
            <a:schemeClr val="tx1">
              <a:lumMod val="85000"/>
              <a:lumOff val="15000"/>
            </a:schemeClr>
          </a:solidFill>
          <a:latin typeface="Lato" panose="020F0502020204030203" pitchFamily="34" charset="0"/>
          <a:ea typeface="Lato" panose="020F0502020204030203" pitchFamily="34" charset="0"/>
          <a:cs typeface="Lato" panose="020F0502020204030203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ranstats.bts.gov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1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501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8136" y="1078030"/>
            <a:ext cx="9288096" cy="2956718"/>
          </a:xfrm>
        </p:spPr>
        <p:txBody>
          <a:bodyPr wrap="square" anchor="t"/>
          <a:lstStyle/>
          <a:p>
            <a:pPr algn="l"/>
            <a:r>
              <a:rPr sz="3300" b="1" dirty="0">
                <a:solidFill>
                  <a:srgbClr val="FFFFFF"/>
                </a:solidFill>
                <a:latin typeface="Aptos"/>
              </a:rPr>
              <a:t>AIRLINE RELIABILITY</a:t>
            </a:r>
          </a:p>
          <a:p>
            <a:pPr algn="l"/>
            <a:r>
              <a:rPr sz="3300" b="1" dirty="0">
                <a:solidFill>
                  <a:srgbClr val="FFFFFF"/>
                </a:solidFill>
                <a:latin typeface="Aptos"/>
              </a:rPr>
              <a:t>DATA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anchor="t"/>
          <a:lstStyle/>
          <a:p>
            <a:pPr algn="l"/>
            <a:r>
              <a:rPr sz="1700" b="0" dirty="0">
                <a:solidFill>
                  <a:srgbClr val="FFFFFF"/>
                </a:solidFill>
                <a:latin typeface="Aptos"/>
              </a:rPr>
              <a:t>From raw flight operations data to reliable airline, airport and route insights</a:t>
            </a:r>
          </a:p>
          <a:p>
            <a:pPr algn="l"/>
            <a:endParaRPr sz="1700" b="0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700" b="0" dirty="0">
                <a:solidFill>
                  <a:srgbClr val="FFFFFF"/>
                </a:solidFill>
                <a:latin typeface="Aptos"/>
              </a:rPr>
              <a:t>Peter Blechert · Data Engineering · 04.09.2026</a:t>
            </a:r>
          </a:p>
        </p:txBody>
      </p:sp>
      <p:pic>
        <p:nvPicPr>
          <p:cNvPr id="4" name="Picture 3" descr="8479e4db-f994-4c5c-a620-b276cb807c98.jpg"/>
          <p:cNvPicPr>
            <a:picLocks noChangeAspect="1"/>
          </p:cNvPicPr>
          <p:nvPr/>
        </p:nvPicPr>
        <p:blipFill>
          <a:blip r:embed="rId2"/>
          <a:srcRect l="19853" r="19853"/>
          <a:stretch>
            <a:fillRect/>
          </a:stretch>
        </p:blipFill>
        <p:spPr>
          <a:xfrm>
            <a:off x="8102601" y="1250637"/>
            <a:ext cx="2252286" cy="2801626"/>
          </a:xfrm>
          <a:prstGeom prst="rect">
            <a:avLst/>
          </a:prstGeom>
          <a:ln w="19050">
            <a:solidFill>
              <a:srgbClr val="FFFFFF"/>
            </a:solidFill>
          </a:ln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62D02214-C38A-76CA-402F-451B70D92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396" y="2923343"/>
            <a:ext cx="1128920" cy="1128920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360BD43E-4892-E168-9B86-A771195DCED6}"/>
              </a:ext>
            </a:extLst>
          </p:cNvPr>
          <p:cNvSpPr/>
          <p:nvPr/>
        </p:nvSpPr>
        <p:spPr bwMode="auto">
          <a:xfrm>
            <a:off x="11616611" y="6383707"/>
            <a:ext cx="461473" cy="307649"/>
          </a:xfrm>
          <a:prstGeom prst="rect">
            <a:avLst/>
          </a:prstGeom>
          <a:solidFill>
            <a:srgbClr val="0C7D2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ABOUT ME &amp; PRESENTATION FOCUS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72768"/>
            <a:ext cx="3931920" cy="36118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856231"/>
            <a:ext cx="2651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DFF5E4"/>
                </a:solidFill>
                <a:latin typeface="Aptos"/>
              </a:rPr>
              <a:t>PERSONAL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40280"/>
            <a:ext cx="324612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/>
              <a:t>Data Engineering final project</a:t>
            </a:r>
            <a:endParaRPr lang="de-DE" dirty="0"/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25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Focus: </a:t>
            </a:r>
            <a:r>
              <a:rPr lang="de-DE" dirty="0" err="1"/>
              <a:t>realistic</a:t>
            </a:r>
            <a:r>
              <a:rPr lang="de-DE" dirty="0"/>
              <a:t>, </a:t>
            </a:r>
            <a:r>
              <a:rPr lang="de-DE" dirty="0" err="1"/>
              <a:t>complete</a:t>
            </a:r>
            <a:r>
              <a:rPr lang="de-DE" dirty="0"/>
              <a:t> </a:t>
            </a:r>
            <a:r>
              <a:rPr lang="de-DE" dirty="0" err="1"/>
              <a:t>pipeline</a:t>
            </a:r>
            <a:endParaRPr lang="de-DE" dirty="0"/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25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25+ </a:t>
            </a:r>
            <a:r>
              <a:rPr lang="de-DE" dirty="0" err="1"/>
              <a:t>years</a:t>
            </a:r>
            <a:r>
              <a:rPr lang="de-DE" dirty="0"/>
              <a:t> of </a:t>
            </a:r>
            <a:r>
              <a:rPr lang="de-DE" dirty="0" err="1"/>
              <a:t>database</a:t>
            </a:r>
            <a:r>
              <a:rPr lang="de-DE" dirty="0"/>
              <a:t> </a:t>
            </a:r>
            <a:r>
              <a:rPr lang="de-DE" dirty="0" err="1"/>
              <a:t>experience</a:t>
            </a:r>
            <a:endParaRPr lang="de-DE" dirty="0"/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25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Career </a:t>
            </a:r>
            <a:r>
              <a:rPr lang="de-DE" dirty="0" err="1"/>
              <a:t>direction</a:t>
            </a:r>
            <a:r>
              <a:rPr lang="de-DE" dirty="0"/>
              <a:t>: Data Engineering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25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Degree: Dipl.-Kfm. (FH)</a:t>
            </a:r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250">
                <a:solidFill>
                  <a:srgbClr val="FFFFFF"/>
                </a:solidFill>
                <a:latin typeface="Aptos"/>
              </a:defRPr>
            </a:pPr>
            <a:r>
              <a:rPr lang="de-DE" sz="1250" dirty="0" err="1">
                <a:solidFill>
                  <a:srgbClr val="FFFFFF"/>
                </a:solidFill>
                <a:latin typeface="Aptos"/>
              </a:rPr>
              <a:t>Preferred</a:t>
            </a:r>
            <a:r>
              <a:rPr lang="de-DE" sz="1250" dirty="0">
                <a:solidFill>
                  <a:srgbClr val="FFFFFF"/>
                </a:solidFill>
                <a:latin typeface="Aptos"/>
              </a:rPr>
              <a:t> </a:t>
            </a:r>
            <a:r>
              <a:rPr lang="de-DE" sz="1250" dirty="0" err="1">
                <a:solidFill>
                  <a:srgbClr val="FFFFFF"/>
                </a:solidFill>
                <a:latin typeface="Aptos"/>
              </a:rPr>
              <a:t>regions</a:t>
            </a:r>
            <a:r>
              <a:rPr lang="de-DE" sz="1250" dirty="0">
                <a:solidFill>
                  <a:srgbClr val="FFFFFF"/>
                </a:solidFill>
                <a:latin typeface="Aptos"/>
              </a:rPr>
              <a:t>: NRW / Hamburg / Schleswig-Holstein · Remote</a:t>
            </a:r>
            <a:endParaRPr dirty="0"/>
          </a:p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  <a:defRPr sz="1250">
                <a:solidFill>
                  <a:srgbClr val="FFFFFF"/>
                </a:solidFill>
                <a:latin typeface="Aptos"/>
              </a:defRPr>
            </a:pPr>
            <a:r>
              <a:rPr dirty="0"/>
              <a:t>Contact: peter.blechert@web.de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572768"/>
            <a:ext cx="5440680" cy="36118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49240" y="1856231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PRESENTATION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2267712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dirty="0">
                <a:solidFill>
                  <a:srgbClr val="FFFFFF"/>
                </a:solidFill>
                <a:latin typeface="Aptos"/>
              </a:rPr>
              <a:t>How can monthly raw data become a reliable data product?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3246120"/>
            <a:ext cx="475488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FFFFFF"/>
                </a:solidFill>
                <a:latin typeface="Aptos"/>
              </a:rPr>
              <a:t>The next 15 minutes show the problem, the engineering solution and the proof that it 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MOTIVATION &amp; GOALS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39" y="1508760"/>
            <a:ext cx="6845609" cy="390144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989998"/>
            <a:ext cx="60604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dirty="0">
                <a:solidFill>
                  <a:srgbClr val="DFF5E4"/>
                </a:solidFill>
                <a:latin typeface="Aptos"/>
              </a:rPr>
              <a:t>Build a</a:t>
            </a:r>
            <a:r>
              <a:rPr lang="de-DE" sz="1400" b="1" dirty="0">
                <a:solidFill>
                  <a:srgbClr val="DFF5E4"/>
                </a:solidFill>
                <a:latin typeface="Aptos"/>
              </a:rPr>
              <a:t> </a:t>
            </a:r>
            <a:r>
              <a:rPr sz="1400" b="1" dirty="0">
                <a:solidFill>
                  <a:srgbClr val="DFF5E4"/>
                </a:solidFill>
                <a:latin typeface="Aptos"/>
              </a:rPr>
              <a:t>small but complete production-like pipeline.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76000"/>
            <a:ext cx="3886200" cy="2192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real external source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monthly ingestion and partitioning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Bronze / Silver / Gold layers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Data Quality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Database model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Orchestration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dirty="0"/>
              <a:t>Data consumption through dashboard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C147E-87C4-A948-E131-050911DFE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D62EDD4C-6874-AF48-686F-7ACDFCE463B7}"/>
              </a:ext>
            </a:extLst>
          </p:cNvPr>
          <p:cNvSpPr/>
          <p:nvPr/>
        </p:nvSpPr>
        <p:spPr>
          <a:xfrm>
            <a:off x="777239" y="1508760"/>
            <a:ext cx="6847200" cy="390240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6E872-D310-3626-029F-C603742A6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lang="de-DE" sz="2700" dirty="0">
                <a:solidFill>
                  <a:srgbClr val="005020"/>
                </a:solidFill>
                <a:latin typeface="Aptos"/>
              </a:rPr>
              <a:t>STAKEHOLDER PERSPECTIVE - CORPORATE TRAVEL</a:t>
            </a:r>
            <a:endParaRPr sz="2700" b="1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E15AE3-2D63-E342-721F-85505FAACDF9}"/>
              </a:ext>
            </a:extLst>
          </p:cNvPr>
          <p:cNvSpPr txBox="1"/>
          <p:nvPr/>
        </p:nvSpPr>
        <p:spPr>
          <a:xfrm>
            <a:off x="1041299" y="1990800"/>
            <a:ext cx="616280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dirty="0">
                <a:solidFill>
                  <a:srgbClr val="DFF5E4"/>
                </a:solidFill>
                <a:latin typeface="Aptos"/>
              </a:rPr>
              <a:t>Get trusted, comparable reliability information</a:t>
            </a:r>
            <a:r>
              <a:rPr sz="1100" b="1" dirty="0">
                <a:solidFill>
                  <a:srgbClr val="DFF5E4"/>
                </a:solidFill>
                <a:latin typeface="Aptos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A5AADF-D4E5-D63E-4696-2F391B4C3F0F}"/>
              </a:ext>
            </a:extLst>
          </p:cNvPr>
          <p:cNvSpPr txBox="1"/>
          <p:nvPr/>
        </p:nvSpPr>
        <p:spPr>
          <a:xfrm>
            <a:off x="1041298" y="2374200"/>
            <a:ext cx="6369152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sz="2200" b="1" dirty="0">
                <a:solidFill>
                  <a:srgbClr val="FFFFFF"/>
                </a:solidFill>
                <a:latin typeface="Aptos"/>
              </a:rPr>
              <a:t>Which airlines are reliable?</a:t>
            </a:r>
            <a:r>
              <a:rPr lang="de-DE" sz="2200" b="1" dirty="0">
                <a:solidFill>
                  <a:srgbClr val="FFFFFF"/>
                </a:solidFill>
                <a:latin typeface="Aptos"/>
              </a:rPr>
              <a:t> </a:t>
            </a:r>
          </a:p>
          <a:p>
            <a:pPr lvl="1">
              <a:lnSpc>
                <a:spcPts val="1500"/>
              </a:lnSpc>
              <a:defRPr sz="1450">
                <a:solidFill>
                  <a:srgbClr val="FFFFFF"/>
                </a:solidFill>
                <a:latin typeface="Aptos"/>
              </a:defRPr>
            </a:pPr>
            <a:r>
              <a:rPr lang="de-DE" sz="1600" dirty="0">
                <a:solidFill>
                  <a:srgbClr val="FFFFFF"/>
                </a:solidFill>
                <a:latin typeface="Aptos"/>
              </a:rPr>
              <a:t>→</a:t>
            </a:r>
            <a:r>
              <a:rPr lang="de-DE"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lang="de-DE" sz="1600" dirty="0">
                <a:solidFill>
                  <a:srgbClr val="DFF5E4"/>
                </a:solidFill>
                <a:latin typeface="Aptos"/>
              </a:rPr>
              <a:t>Carrier </a:t>
            </a:r>
            <a:r>
              <a:rPr lang="de-DE" sz="1600" dirty="0" err="1">
                <a:solidFill>
                  <a:srgbClr val="DFF5E4"/>
                </a:solidFill>
                <a:latin typeface="Aptos"/>
              </a:rPr>
              <a:t>selection</a:t>
            </a:r>
            <a:r>
              <a:rPr lang="de-DE" sz="1600" dirty="0">
                <a:solidFill>
                  <a:srgbClr val="DFF5E4"/>
                </a:solidFill>
                <a:latin typeface="Aptos"/>
              </a:rPr>
              <a:t> / </a:t>
            </a:r>
            <a:r>
              <a:rPr lang="de-DE" sz="1600" dirty="0" err="1">
                <a:solidFill>
                  <a:srgbClr val="DFF5E4"/>
                </a:solidFill>
                <a:latin typeface="Aptos"/>
              </a:rPr>
              <a:t>benchmarking</a:t>
            </a:r>
            <a:endParaRPr lang="de-DE" sz="1600" dirty="0">
              <a:solidFill>
                <a:srgbClr val="DFF5E4"/>
              </a:solidFill>
              <a:latin typeface="Aptos"/>
            </a:endParaRPr>
          </a:p>
          <a:p>
            <a:pPr lvl="1">
              <a:defRPr sz="1450">
                <a:solidFill>
                  <a:srgbClr val="FFFFFF"/>
                </a:solidFill>
                <a:latin typeface="Aptos"/>
              </a:defRPr>
            </a:pPr>
            <a:endParaRPr lang="de-DE" sz="1600" dirty="0">
              <a:solidFill>
                <a:srgbClr val="DFF5E4"/>
              </a:solidFill>
              <a:latin typeface="Aptos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sz="2200" b="1" dirty="0">
                <a:solidFill>
                  <a:srgbClr val="FFFFFF"/>
                </a:solidFill>
                <a:latin typeface="Aptos"/>
              </a:rPr>
              <a:t>Which airports concentrate problems?</a:t>
            </a:r>
            <a:endParaRPr lang="de-DE" sz="2200" b="1" dirty="0">
              <a:solidFill>
                <a:srgbClr val="FFFFFF"/>
              </a:solidFill>
              <a:latin typeface="Aptos"/>
            </a:endParaRPr>
          </a:p>
          <a:p>
            <a:pPr lvl="1">
              <a:lnSpc>
                <a:spcPts val="1500"/>
              </a:lnSpc>
              <a:defRPr sz="1450">
                <a:solidFill>
                  <a:srgbClr val="FFFFFF"/>
                </a:solidFill>
                <a:latin typeface="Aptos"/>
              </a:defRPr>
            </a:pPr>
            <a:r>
              <a:rPr lang="de-DE" sz="1600" dirty="0">
                <a:solidFill>
                  <a:srgbClr val="FFFFFF"/>
                </a:solidFill>
                <a:latin typeface="Aptos"/>
              </a:rPr>
              <a:t>→</a:t>
            </a:r>
            <a:r>
              <a:rPr lang="de-DE" sz="1600" b="1" dirty="0">
                <a:solidFill>
                  <a:srgbClr val="FFFFFF"/>
                </a:solidFill>
                <a:latin typeface="Aptos"/>
              </a:rPr>
              <a:t> </a:t>
            </a:r>
            <a:r>
              <a:rPr lang="de-DE" sz="1600" dirty="0">
                <a:solidFill>
                  <a:srgbClr val="DFF5E4"/>
                </a:solidFill>
                <a:latin typeface="Aptos"/>
              </a:rPr>
              <a:t>Connection / </a:t>
            </a:r>
            <a:r>
              <a:rPr lang="de-DE" sz="1600" dirty="0" err="1">
                <a:solidFill>
                  <a:srgbClr val="DFF5E4"/>
                </a:solidFill>
                <a:latin typeface="Aptos"/>
              </a:rPr>
              <a:t>disruption</a:t>
            </a:r>
            <a:r>
              <a:rPr lang="de-DE" sz="1600" dirty="0">
                <a:solidFill>
                  <a:srgbClr val="DFF5E4"/>
                </a:solidFill>
                <a:latin typeface="Aptos"/>
              </a:rPr>
              <a:t> </a:t>
            </a:r>
            <a:r>
              <a:rPr lang="de-DE" sz="1600" dirty="0" err="1">
                <a:solidFill>
                  <a:srgbClr val="DFF5E4"/>
                </a:solidFill>
                <a:latin typeface="Aptos"/>
              </a:rPr>
              <a:t>risk</a:t>
            </a:r>
            <a:endParaRPr lang="de-DE" sz="1600" dirty="0">
              <a:solidFill>
                <a:srgbClr val="DFF5E4"/>
              </a:solidFill>
              <a:latin typeface="Aptos"/>
            </a:endParaRPr>
          </a:p>
          <a:p>
            <a:pPr lvl="1">
              <a:defRPr sz="1450">
                <a:solidFill>
                  <a:srgbClr val="FFFFFF"/>
                </a:solidFill>
                <a:latin typeface="Aptos"/>
              </a:defRPr>
            </a:pPr>
            <a:endParaRPr lang="de-DE" sz="1600" b="1" dirty="0">
              <a:solidFill>
                <a:srgbClr val="FFFFFF"/>
              </a:solidFill>
              <a:latin typeface="Aptos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r>
              <a:rPr sz="2200" b="1" dirty="0">
                <a:solidFill>
                  <a:srgbClr val="FFFFFF"/>
                </a:solidFill>
                <a:latin typeface="Aptos"/>
              </a:rPr>
              <a:t>Which routes are operationally robust?</a:t>
            </a:r>
            <a:r>
              <a:rPr lang="de-DE" sz="2200" b="1" dirty="0">
                <a:solidFill>
                  <a:srgbClr val="FFFFFF"/>
                </a:solidFill>
                <a:latin typeface="Aptos"/>
              </a:rPr>
              <a:t> </a:t>
            </a:r>
          </a:p>
          <a:p>
            <a:pPr lvl="1">
              <a:lnSpc>
                <a:spcPts val="1500"/>
              </a:lnSpc>
              <a:defRPr sz="1450">
                <a:solidFill>
                  <a:srgbClr val="FFFFFF"/>
                </a:solidFill>
                <a:latin typeface="Aptos"/>
              </a:defRPr>
            </a:pPr>
            <a:r>
              <a:rPr lang="de-DE" sz="1600" dirty="0">
                <a:solidFill>
                  <a:srgbClr val="FFFFFF"/>
                </a:solidFill>
                <a:latin typeface="Aptos"/>
              </a:rPr>
              <a:t>→</a:t>
            </a:r>
            <a:r>
              <a:rPr lang="de-DE" sz="1600" dirty="0">
                <a:solidFill>
                  <a:srgbClr val="DFF5E4"/>
                </a:solidFill>
                <a:latin typeface="Aptos"/>
              </a:rPr>
              <a:t> Route </a:t>
            </a:r>
            <a:r>
              <a:rPr lang="de-DE" sz="1600" dirty="0" err="1">
                <a:solidFill>
                  <a:srgbClr val="DFF5E4"/>
                </a:solidFill>
                <a:latin typeface="Aptos"/>
              </a:rPr>
              <a:t>selection</a:t>
            </a:r>
            <a:r>
              <a:rPr lang="de-DE" sz="1600" dirty="0">
                <a:solidFill>
                  <a:srgbClr val="DFF5E4"/>
                </a:solidFill>
                <a:latin typeface="Aptos"/>
              </a:rPr>
              <a:t> / </a:t>
            </a:r>
            <a:r>
              <a:rPr lang="de-DE" sz="1600" dirty="0" err="1">
                <a:solidFill>
                  <a:srgbClr val="DFF5E4"/>
                </a:solidFill>
                <a:latin typeface="Aptos"/>
              </a:rPr>
              <a:t>comparison</a:t>
            </a:r>
            <a:endParaRPr lang="de-DE" sz="1600" dirty="0">
              <a:solidFill>
                <a:srgbClr val="DFF5E4"/>
              </a:solidFill>
              <a:latin typeface="Aptos"/>
            </a:endParaRPr>
          </a:p>
          <a:p>
            <a:pPr marL="342900" indent="-342900">
              <a:buFont typeface="Arial" panose="020B0604020202020204" pitchFamily="34" charset="0"/>
              <a:buChar char="•"/>
              <a:defRPr sz="1450">
                <a:solidFill>
                  <a:srgbClr val="FFFFFF"/>
                </a:solidFill>
                <a:latin typeface="Aptos"/>
              </a:defRPr>
            </a:pPr>
            <a:endParaRPr sz="2200" b="1" dirty="0">
              <a:solidFill>
                <a:srgbClr val="FFFFFF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138906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>
                <a:solidFill>
                  <a:srgbClr val="005020"/>
                </a:solidFill>
                <a:latin typeface="Aptos"/>
              </a:rPr>
              <a:t>DATA SOURCE &amp; DATA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987552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58645B"/>
                </a:solidFill>
                <a:latin typeface="Aptos"/>
              </a:rPr>
              <a:t>Source: </a:t>
            </a:r>
            <a:r>
              <a:rPr lang="de-DE" sz="1500" b="1" dirty="0">
                <a:solidFill>
                  <a:srgbClr val="58645B"/>
                </a:solidFill>
                <a:latin typeface="Aptos"/>
              </a:rPr>
              <a:t>BTS -</a:t>
            </a:r>
            <a:r>
              <a:rPr sz="1500" b="1" dirty="0">
                <a:solidFill>
                  <a:srgbClr val="58645B"/>
                </a:solidFill>
                <a:latin typeface="Aptos"/>
              </a:rPr>
              <a:t>Bureau of Transportation Statistics (monthly On-Time Performance data)</a:t>
            </a:r>
          </a:p>
          <a:p>
            <a:r>
              <a:rPr sz="1000" dirty="0">
                <a:solidFill>
                  <a:srgbClr val="58645B"/>
                </a:solidFill>
                <a:latin typeface="Aptos"/>
                <a:hlinkClick r:id="rId2"/>
              </a:rPr>
              <a:t>https://www.transtats.bts.gov/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89785"/>
            <a:ext cx="224028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" y="2190368"/>
            <a:ext cx="1984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5020"/>
                </a:solidFill>
                <a:latin typeface="Aptos"/>
              </a:rPr>
              <a:t>607,577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592705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8645B"/>
                </a:solidFill>
                <a:latin typeface="Aptos"/>
              </a:rPr>
              <a:t>flight records · June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089785"/>
            <a:ext cx="224028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19856" y="2190368"/>
            <a:ext cx="1984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5020"/>
                </a:solidFill>
                <a:latin typeface="Aptos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56" y="2592705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8645B"/>
                </a:solidFill>
                <a:latin typeface="Aptos"/>
              </a:rPr>
              <a:t>airlines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2089785"/>
            <a:ext cx="224028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34455" y="2190368"/>
            <a:ext cx="1984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5020"/>
                </a:solidFill>
                <a:latin typeface="Aptos"/>
              </a:rPr>
              <a:t>351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4455" y="2592705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8645B"/>
                </a:solidFill>
                <a:latin typeface="Aptos"/>
              </a:rPr>
              <a:t>airports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089785"/>
            <a:ext cx="224028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49056" y="2190368"/>
            <a:ext cx="198424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005020"/>
                </a:solidFill>
                <a:latin typeface="Aptos"/>
              </a:rPr>
              <a:t>6,131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592705"/>
            <a:ext cx="19842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8645B"/>
                </a:solidFill>
                <a:latin typeface="Aptos"/>
              </a:rPr>
              <a:t>routes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273551"/>
            <a:ext cx="4846320" cy="2167129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3529584"/>
            <a:ext cx="2926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FF5E4"/>
                </a:solidFill>
                <a:latin typeface="Aptos"/>
              </a:rPr>
              <a:t>WHAT THE SOURCE CONTAINS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22191"/>
            <a:ext cx="4160520" cy="1149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FFFFFF"/>
                </a:solidFill>
                <a:latin typeface="Aptos"/>
              </a:defRPr>
            </a:pPr>
            <a:r>
              <a:rPr dirty="0"/>
              <a:t>Flight date, airline, origin and destination airport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FFFFFF"/>
                </a:solidFill>
                <a:latin typeface="Aptos"/>
              </a:defRPr>
            </a:pPr>
            <a:r>
              <a:rPr dirty="0"/>
              <a:t>planned and actual times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FFFFFF"/>
                </a:solidFill>
                <a:latin typeface="Aptos"/>
              </a:defRPr>
            </a:pPr>
            <a:r>
              <a:rPr dirty="0"/>
              <a:t>delays, cancellations, diversions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FFFFFF"/>
                </a:solidFill>
                <a:latin typeface="Aptos"/>
              </a:defRPr>
            </a:pPr>
            <a:r>
              <a:rPr dirty="0"/>
              <a:t>delay causes and reference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3273551"/>
            <a:ext cx="4846320" cy="2167129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26480" y="3529584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DFF5E4"/>
                </a:solidFill>
                <a:latin typeface="Aptos"/>
              </a:rPr>
              <a:t>WHAT IT DOESN'T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822191"/>
            <a:ext cx="4160520" cy="1436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FFFFFF"/>
                </a:solidFill>
                <a:latin typeface="Aptos"/>
              </a:defRPr>
            </a:pPr>
            <a:r>
              <a:rPr dirty="0"/>
              <a:t>quality boundary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FFFFFF"/>
                </a:solidFill>
                <a:latin typeface="Aptos"/>
              </a:defRPr>
            </a:pPr>
            <a:r>
              <a:rPr dirty="0"/>
              <a:t>standardized schema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FFFFFF"/>
                </a:solidFill>
                <a:latin typeface="Aptos"/>
              </a:defRPr>
            </a:pPr>
            <a:r>
              <a:rPr dirty="0"/>
              <a:t>analytical model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FFFFFF"/>
                </a:solidFill>
                <a:latin typeface="Aptos"/>
              </a:defRPr>
            </a:pPr>
            <a:r>
              <a:rPr dirty="0"/>
              <a:t>business-ready reliability metrics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280">
                <a:solidFill>
                  <a:srgbClr val="FFFFFF"/>
                </a:solidFill>
                <a:latin typeface="Aptos"/>
              </a:defRPr>
            </a:pPr>
            <a:r>
              <a:rPr dirty="0"/>
              <a:t>reproducible monthly processing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0" grpId="0"/>
      <p:bldP spid="21" grpId="0" animBg="1"/>
      <p:bldP spid="22" grpId="0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>
                <a:solidFill>
                  <a:srgbClr val="005020"/>
                </a:solidFill>
                <a:latin typeface="Aptos"/>
              </a:rPr>
              <a:t>ENGINEERING QUESTION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6264" y="1512570"/>
            <a:ext cx="10719435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005020"/>
                </a:solidFill>
                <a:latin typeface="Aptos"/>
              </a:rPr>
              <a:t>How can monthly flight data be transformed into a reliable, reproducible analytics data product?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377440"/>
            <a:ext cx="1499617" cy="744491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005020"/>
                </a:solidFill>
                <a:latin typeface="Aptos"/>
              </a:rPr>
              <a:t>BTS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dirty="0">
                <a:solidFill>
                  <a:srgbClr val="58645B"/>
                </a:solidFill>
                <a:latin typeface="Aptos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66543" y="25877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0008" y="2377440"/>
            <a:ext cx="1499617" cy="744491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04872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005020"/>
                </a:solidFill>
                <a:latin typeface="Aptos"/>
              </a:rPr>
              <a:t>BRONZE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04872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8645B"/>
                </a:solidFill>
                <a:latin typeface="Aptos"/>
              </a:rPr>
              <a:t>preserve raw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9624" y="25877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33087" y="2377440"/>
            <a:ext cx="1499617" cy="744491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87951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5020"/>
                </a:solidFill>
                <a:latin typeface="Aptos"/>
              </a:rPr>
              <a:t>SILVER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7951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8645B"/>
                </a:solidFill>
                <a:latin typeface="Aptos"/>
              </a:rPr>
              <a:t>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32703" y="25877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16168" y="2377440"/>
            <a:ext cx="1499617" cy="744491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71031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5020"/>
                </a:solidFill>
                <a:latin typeface="Aptos"/>
              </a:rPr>
              <a:t>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1031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8645B"/>
                </a:solidFill>
                <a:latin typeface="Aptos"/>
              </a:rPr>
              <a:t>database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5783" y="25877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99248" y="2377440"/>
            <a:ext cx="1499617" cy="744491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54112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005020"/>
                </a:solidFill>
                <a:latin typeface="Aptos"/>
              </a:rPr>
              <a:t>GOLD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4112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58645B"/>
                </a:solidFill>
                <a:latin typeface="Aptos"/>
              </a:rPr>
              <a:t>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4" y="2587752"/>
            <a:ext cx="256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82328" y="2377440"/>
            <a:ext cx="1499617" cy="744491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537192" y="24146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rgbClr val="005020"/>
                </a:solidFill>
                <a:latin typeface="Aptos"/>
              </a:rPr>
              <a:t>STREAMLIT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7192" y="265829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dirty="0">
                <a:solidFill>
                  <a:srgbClr val="58645B"/>
                </a:solidFill>
                <a:latin typeface="Aptos"/>
              </a:rPr>
              <a:t>consume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34440" y="3830955"/>
            <a:ext cx="8961120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508760" y="3963162"/>
            <a:ext cx="864000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Aptos"/>
              </a:rPr>
              <a:t>Python &amp; </a:t>
            </a:r>
            <a:r>
              <a:rPr lang="en-US" sz="1500" b="1" dirty="0" err="1">
                <a:solidFill>
                  <a:srgbClr val="FFFFFF"/>
                </a:solidFill>
                <a:latin typeface="Aptos"/>
              </a:rPr>
              <a:t>PySpark</a:t>
            </a:r>
            <a:r>
              <a:rPr lang="en-US" sz="1500" b="1" dirty="0">
                <a:solidFill>
                  <a:srgbClr val="FFFFFF"/>
                </a:solidFill>
                <a:latin typeface="Aptos"/>
              </a:rPr>
              <a:t> implement and process the data</a:t>
            </a:r>
          </a:p>
          <a:p>
            <a:pPr algn="ctr"/>
            <a:r>
              <a:rPr lang="en-US" sz="1500" b="1" dirty="0">
                <a:solidFill>
                  <a:srgbClr val="FFFFFF"/>
                </a:solidFill>
                <a:latin typeface="Aptos"/>
              </a:rPr>
              <a:t>Airflow orchestrates the process · Docker provides the reproducible runtime</a:t>
            </a:r>
            <a:endParaRPr sz="15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508760" y="4916805"/>
            <a:ext cx="86400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005020"/>
                </a:solidFill>
                <a:latin typeface="Aptos"/>
              </a:rPr>
              <a:t>The architecture is not a tool list - each layer answers a concrete requirement.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 dirty="0">
                <a:solidFill>
                  <a:srgbClr val="5F6B66"/>
                </a:solidFill>
                <a:latin typeface="Arial"/>
              </a:rPr>
              <a:t>ZIP / CSV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04872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 dirty="0">
                <a:solidFill>
                  <a:srgbClr val="5F6B66"/>
                </a:solidFill>
                <a:latin typeface="Arial"/>
              </a:rPr>
              <a:t>ZIP / CSV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87951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5F6B66"/>
                </a:solidFill>
                <a:latin typeface="Arial"/>
              </a:rPr>
              <a:t>validated Parquet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71031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5F6B66"/>
                </a:solidFill>
                <a:latin typeface="Arial"/>
              </a:rPr>
              <a:t>Facts &amp; Dimensions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54112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5F6B66"/>
                </a:solidFill>
                <a:latin typeface="Arial"/>
              </a:rPr>
              <a:t>Reliability Marts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37192" y="29022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0" b="1">
                <a:solidFill>
                  <a:srgbClr val="5F6B66"/>
                </a:solidFill>
                <a:latin typeface="Arial"/>
              </a:rPr>
              <a:t>Interactive Dashboard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10" grpId="0" animBg="1"/>
      <p:bldP spid="11" grpId="0"/>
      <p:bldP spid="12" grpId="0"/>
      <p:bldP spid="14" grpId="0" animBg="1"/>
      <p:bldP spid="15" grpId="0"/>
      <p:bldP spid="16" grpId="0"/>
      <p:bldP spid="18" grpId="0" animBg="1"/>
      <p:bldP spid="19" grpId="0"/>
      <p:bldP spid="20" grpId="0"/>
      <p:bldP spid="22" grpId="0" animBg="1"/>
      <p:bldP spid="23" grpId="0"/>
      <p:bldP spid="24" grpId="0"/>
      <p:bldP spid="26" grpId="0" animBg="1"/>
      <p:bldP spid="27" grpId="0"/>
      <p:bldP spid="28" grpId="0"/>
      <p:bldP spid="29" grpId="0" animBg="1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INGESTION &amp; BRONZE </a:t>
            </a:r>
            <a:r>
              <a:rPr lang="de-DE" sz="27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2700" b="1" dirty="0">
                <a:solidFill>
                  <a:srgbClr val="005020"/>
                </a:solidFill>
                <a:latin typeface="Aptos"/>
              </a:rPr>
              <a:t> PRESERVE THE SOURCE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4709160" cy="3846195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856231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DFF5E4"/>
                </a:solidFill>
                <a:latin typeface="Aptos"/>
              </a:rPr>
              <a:t>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67712"/>
            <a:ext cx="3931920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monthly available ZIP / CSV files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reference files for airlines and airports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routes derived from flights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download only when missing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year/month partitioning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554480"/>
            <a:ext cx="4709160" cy="3846195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89320" y="1856231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DFF5E4"/>
                </a:solidFill>
                <a:latin typeface="Aptos"/>
              </a:rPr>
              <a:t>BRONZE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602736"/>
            <a:ext cx="39776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Raw ZIP / CSV remains unchanged.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267712"/>
            <a:ext cx="4572000" cy="1010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traceability to source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repeatable monthly loads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600">
                <a:solidFill>
                  <a:srgbClr val="FFFFFF"/>
                </a:solidFill>
                <a:latin typeface="Aptos"/>
              </a:defRPr>
            </a:pPr>
            <a:r>
              <a:rPr dirty="0"/>
              <a:t>clean separation from transformation logic</a:t>
            </a:r>
          </a:p>
        </p:txBody>
      </p:sp>
      <p:sp>
        <p:nvSpPr>
          <p:cNvPr id="13" name="TextBox 30">
            <a:extLst>
              <a:ext uri="{FF2B5EF4-FFF2-40B4-BE49-F238E27FC236}">
                <a16:creationId xmlns:a16="http://schemas.microsoft.com/office/drawing/2014/main" id="{78772B43-FDA6-02DD-C2CA-31F6F3942D82}"/>
              </a:ext>
            </a:extLst>
          </p:cNvPr>
          <p:cNvSpPr txBox="1"/>
          <p:nvPr/>
        </p:nvSpPr>
        <p:spPr>
          <a:xfrm>
            <a:off x="822959" y="5579472"/>
            <a:ext cx="9839597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600" b="1" dirty="0">
                <a:solidFill>
                  <a:srgbClr val="58645B"/>
                </a:solidFill>
                <a:latin typeface="Aptos"/>
              </a:rPr>
              <a:t>Purpose: make the source reproducible before any analytical transformation happens.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SILVER &amp; DATA QUALITY </a:t>
            </a:r>
            <a:r>
              <a:rPr lang="de-DE" sz="27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2700" b="1" dirty="0">
                <a:solidFill>
                  <a:srgbClr val="005020"/>
                </a:solidFill>
                <a:latin typeface="Aptos"/>
              </a:rPr>
              <a:t> CREATE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47036"/>
            <a:ext cx="987552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005020"/>
                </a:solidFill>
                <a:latin typeface="Aptos"/>
              </a:rPr>
              <a:t>Silver is the quality boundary of the pipeline </a:t>
            </a:r>
            <a:r>
              <a:rPr lang="de-DE" sz="19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1900" b="1" dirty="0">
                <a:solidFill>
                  <a:srgbClr val="005020"/>
                </a:solidFill>
                <a:latin typeface="Aptos"/>
              </a:rPr>
              <a:t> not just another file format.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19" y="2103120"/>
            <a:ext cx="2903515" cy="10972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26771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DFF5E4"/>
                </a:solidFill>
                <a:latin typeface="Aptos"/>
              </a:rPr>
              <a:t>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61518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>
                <a:solidFill>
                  <a:srgbClr val="FFFFFF"/>
                </a:solidFill>
                <a:latin typeface="Aptos"/>
              </a:rPr>
              <a:t>required fields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8" y="2103120"/>
            <a:ext cx="2903515" cy="10972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42230" y="226771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DFF5E4"/>
                </a:solidFill>
                <a:latin typeface="Aptos"/>
              </a:rPr>
              <a:t>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2230" y="2615184"/>
            <a:ext cx="2552483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>
                <a:solidFill>
                  <a:srgbClr val="FFFFFF"/>
                </a:solidFill>
                <a:latin typeface="Aptos"/>
              </a:rPr>
              <a:t>date and numeric </a:t>
            </a:r>
            <a:r>
              <a:rPr sz="1250" b="0" dirty="0" err="1">
                <a:solidFill>
                  <a:srgbClr val="FFFFFF"/>
                </a:solidFill>
                <a:latin typeface="Aptos"/>
              </a:rPr>
              <a:t>standardi</a:t>
            </a:r>
            <a:r>
              <a:rPr lang="de-DE" sz="1250" b="0" dirty="0">
                <a:solidFill>
                  <a:srgbClr val="FFFFFF"/>
                </a:solidFill>
                <a:latin typeface="Aptos"/>
              </a:rPr>
              <a:t>s</a:t>
            </a:r>
            <a:r>
              <a:rPr sz="1250" b="0" dirty="0" err="1">
                <a:solidFill>
                  <a:srgbClr val="FFFFFF"/>
                </a:solidFill>
                <a:latin typeface="Aptos"/>
              </a:rPr>
              <a:t>ation</a:t>
            </a:r>
            <a:endParaRPr sz="125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223758" y="2103120"/>
            <a:ext cx="2903515" cy="10972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88352" y="2267712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DFF5E4"/>
                </a:solidFill>
                <a:latin typeface="Aptos"/>
              </a:rPr>
              <a:t>Domain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8352" y="261518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>
                <a:solidFill>
                  <a:srgbClr val="FFFFFF"/>
                </a:solidFill>
                <a:latin typeface="Aptos"/>
              </a:rPr>
              <a:t>airport code and route validation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5235" y="3545204"/>
            <a:ext cx="2903515" cy="10972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99828" y="3709797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DFF5E4"/>
                </a:solidFill>
                <a:latin typeface="Aptos"/>
              </a:rPr>
              <a:t>Flags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99828" y="4057269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cancelled, diverted, delay flags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81354" y="3545204"/>
            <a:ext cx="2903515" cy="10972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45947" y="3709797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DFF5E4"/>
                </a:solidFill>
                <a:latin typeface="Aptos"/>
              </a:rPr>
              <a:t>Plausibility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45947" y="4057269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  <a:latin typeface="Aptos"/>
              </a:rPr>
              <a:t>distance and elapsed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972050"/>
            <a:ext cx="9326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005020"/>
                </a:solidFill>
                <a:latin typeface="Aptos"/>
              </a:rPr>
              <a:t>Result: standardized Parquet data that can safely enter the analytical model.</a:t>
            </a:r>
          </a:p>
        </p:txBody>
      </p:sp>
      <p:sp>
        <p:nvSpPr>
          <p:cNvPr id="22" name="TextBox 20"/>
          <p:cNvSpPr txBox="1"/>
          <p:nvPr/>
        </p:nvSpPr>
        <p:spPr>
          <a:xfrm>
            <a:off x="960120" y="5264658"/>
            <a:ext cx="93268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000" b="1" dirty="0">
                <a:solidFill>
                  <a:srgbClr val="005020"/>
                </a:solidFill>
                <a:latin typeface="Aptos"/>
              </a:rPr>
              <a:t>Parquet is a column-oriented format for efficient storage and fast analytical queries.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DATA MODEL &amp; GOLD MARTS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94760" y="2880360"/>
            <a:ext cx="22402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904488" y="3095896"/>
            <a:ext cx="2020824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 err="1">
                <a:solidFill>
                  <a:srgbClr val="005020"/>
                </a:solidFill>
                <a:latin typeface="Aptos"/>
              </a:rPr>
              <a:t>fact_flight</a:t>
            </a:r>
            <a:endParaRPr sz="1400" b="1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794760" y="1600200"/>
            <a:ext cx="2240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04488" y="1783080"/>
            <a:ext cx="2020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 err="1">
                <a:solidFill>
                  <a:srgbClr val="005020"/>
                </a:solidFill>
                <a:latin typeface="Aptos"/>
              </a:rPr>
              <a:t>dim_date</a:t>
            </a:r>
            <a:endParaRPr sz="1400" b="1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60120" y="2926080"/>
            <a:ext cx="2240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" y="3108960"/>
            <a:ext cx="2020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 err="1">
                <a:solidFill>
                  <a:srgbClr val="005020"/>
                </a:solidFill>
                <a:latin typeface="Aptos"/>
              </a:rPr>
              <a:t>dim_airline</a:t>
            </a:r>
            <a:endParaRPr sz="1400" b="1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794760" y="4251960"/>
            <a:ext cx="2240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04488" y="4434840"/>
            <a:ext cx="20208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 err="1">
                <a:solidFill>
                  <a:srgbClr val="005020"/>
                </a:solidFill>
                <a:latin typeface="Aptos"/>
              </a:rPr>
              <a:t>dim_airport</a:t>
            </a:r>
            <a:endParaRPr sz="1400" b="1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818120" y="1673352"/>
            <a:ext cx="2743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0" y="1837944"/>
            <a:ext cx="2468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005020"/>
                </a:solidFill>
                <a:latin typeface="Aptos"/>
              </a:rPr>
              <a:t>Gold Airline Reliability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2907792"/>
            <a:ext cx="2743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0" y="3072384"/>
            <a:ext cx="2468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005020"/>
                </a:solidFill>
                <a:latin typeface="Aptos"/>
              </a:rPr>
              <a:t>Gold Airport Reliability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4142232"/>
            <a:ext cx="27432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80" y="4306824"/>
            <a:ext cx="246888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005020"/>
                </a:solidFill>
                <a:latin typeface="Aptos"/>
              </a:rPr>
              <a:t>Gold Route Reliability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413248"/>
            <a:ext cx="95097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005020"/>
                </a:solidFill>
                <a:latin typeface="Aptos"/>
              </a:rPr>
              <a:t>The </a:t>
            </a:r>
            <a:r>
              <a:rPr lang="de-DE" sz="1600" b="1" dirty="0">
                <a:solidFill>
                  <a:srgbClr val="005020"/>
                </a:solidFill>
                <a:latin typeface="Aptos"/>
              </a:rPr>
              <a:t>star-schema </a:t>
            </a:r>
            <a:r>
              <a:rPr sz="1600" b="1" dirty="0">
                <a:solidFill>
                  <a:srgbClr val="005020"/>
                </a:solidFill>
                <a:latin typeface="Aptos"/>
              </a:rPr>
              <a:t>model separates operational detail from business-level reliability metrics.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914900" y="2258568"/>
            <a:ext cx="0" cy="621792"/>
          </a:xfrm>
          <a:prstGeom prst="line">
            <a:avLst/>
          </a:prstGeom>
          <a:ln w="20320">
            <a:solidFill>
              <a:srgbClr val="0A7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200400" y="3255264"/>
            <a:ext cx="594360" cy="0"/>
          </a:xfrm>
          <a:prstGeom prst="line">
            <a:avLst/>
          </a:prstGeom>
          <a:ln w="20320">
            <a:solidFill>
              <a:srgbClr val="0A7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4914900" y="3630168"/>
            <a:ext cx="0" cy="621792"/>
          </a:xfrm>
          <a:prstGeom prst="line">
            <a:avLst/>
          </a:prstGeom>
          <a:ln w="20320">
            <a:solidFill>
              <a:srgbClr val="0A7A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035040" y="2002536"/>
            <a:ext cx="1783080" cy="1252728"/>
          </a:xfrm>
          <a:prstGeom prst="line">
            <a:avLst/>
          </a:prstGeom>
          <a:ln w="25400">
            <a:solidFill>
              <a:srgbClr val="0A7A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035040" y="3236976"/>
            <a:ext cx="1783080" cy="18288"/>
          </a:xfrm>
          <a:prstGeom prst="line">
            <a:avLst/>
          </a:prstGeom>
          <a:ln w="25400">
            <a:solidFill>
              <a:srgbClr val="0A7A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035040" y="3255264"/>
            <a:ext cx="1783080" cy="1216152"/>
          </a:xfrm>
          <a:prstGeom prst="line">
            <a:avLst/>
          </a:prstGeom>
          <a:ln w="25400">
            <a:solidFill>
              <a:srgbClr val="0A7A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20" grpId="0" animBg="1"/>
      <p:bldP spid="21" grpId="0"/>
      <p:bldP spid="23" grpId="0" animBg="1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AIRFLOW </a:t>
            </a:r>
            <a:r>
              <a:rPr lang="de-DE" sz="27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2700" b="1" dirty="0">
                <a:solidFill>
                  <a:srgbClr val="005020"/>
                </a:solidFill>
                <a:latin typeface="Aptos"/>
              </a:rPr>
              <a:t> FROM SCRIPTS TO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41812"/>
            <a:ext cx="987552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005020"/>
                </a:solidFill>
                <a:latin typeface="Aptos"/>
              </a:rPr>
              <a:t>A pipeline is more than a sequence of scripts.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2984754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220370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DFF5E4"/>
                </a:solidFill>
                <a:latin typeface="Aptos"/>
              </a:rPr>
              <a:t>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5146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FFFFFF"/>
                </a:solidFill>
                <a:latin typeface="Aptos"/>
              </a:rPr>
              <a:t>monthly runs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87368" y="2057400"/>
            <a:ext cx="2984754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51959" y="220370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DFF5E4"/>
                </a:solidFill>
                <a:latin typeface="Aptos"/>
              </a:rPr>
              <a:t>Dependencies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59" y="25146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FFFFFF"/>
                </a:solidFill>
                <a:latin typeface="Aptos"/>
              </a:rPr>
              <a:t>correct task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97496" y="2057400"/>
            <a:ext cx="2984754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62088" y="220370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DFF5E4"/>
                </a:solidFill>
                <a:latin typeface="Aptos"/>
              </a:rPr>
              <a:t>Retries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25146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FFFFFF"/>
                </a:solidFill>
                <a:latin typeface="Aptos"/>
              </a:rPr>
              <a:t>temporary failures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37560"/>
            <a:ext cx="2984754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" y="348386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FF5E4"/>
                </a:solidFill>
                <a:latin typeface="Aptos"/>
              </a:rPr>
              <a:t>Failure 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379476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stop downstream tasks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87368" y="3337560"/>
            <a:ext cx="2984754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51959" y="348386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FF5E4"/>
                </a:solidFill>
                <a:latin typeface="Aptos"/>
              </a:rPr>
              <a:t>Quality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59" y="379476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prevent bad data propagation</a:t>
            </a:r>
          </a:p>
        </p:txBody>
      </p:sp>
      <p:sp>
        <p:nvSpPr>
          <p:cNvPr id="21" name="Rounded Rectangle 20">
            <a:hlinkClick r:id="rId2"/>
          </p:cNvPr>
          <p:cNvSpPr/>
          <p:nvPr/>
        </p:nvSpPr>
        <p:spPr>
          <a:xfrm>
            <a:off x="4069080" y="4983480"/>
            <a:ext cx="34747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69080" y="5056632"/>
            <a:ext cx="34747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dirty="0">
                <a:solidFill>
                  <a:srgbClr val="005020"/>
                </a:solidFill>
                <a:latin typeface="Aptos"/>
              </a:rPr>
              <a:t>▶ LIVE DEMO </a:t>
            </a:r>
            <a:r>
              <a:rPr lang="de-DE" sz="13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1300" b="1" dirty="0">
                <a:solidFill>
                  <a:srgbClr val="005020"/>
                </a:solidFill>
                <a:latin typeface="Aptos"/>
              </a:rPr>
              <a:t> AIRFLOW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559552"/>
            <a:ext cx="63093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58645B"/>
                </a:solidFill>
                <a:latin typeface="Aptos"/>
              </a:rPr>
              <a:t>Show DAG → task dependencies → retry / recovery</a:t>
            </a:r>
            <a:r>
              <a:rPr lang="de-DE" sz="1000" b="1" dirty="0">
                <a:solidFill>
                  <a:srgbClr val="58645B"/>
                </a:solidFill>
                <a:latin typeface="Aptos"/>
              </a:rPr>
              <a:t> → </a:t>
            </a:r>
            <a:r>
              <a:rPr lang="de-DE" sz="1000" b="1" dirty="0" err="1">
                <a:solidFill>
                  <a:srgbClr val="58645B"/>
                </a:solidFill>
                <a:latin typeface="Aptos"/>
              </a:rPr>
              <a:t>simulated</a:t>
            </a:r>
            <a:r>
              <a:rPr lang="de-DE" sz="1000" b="1" dirty="0">
                <a:solidFill>
                  <a:srgbClr val="58645B"/>
                </a:solidFill>
                <a:latin typeface="Aptos"/>
              </a:rPr>
              <a:t> </a:t>
            </a:r>
            <a:r>
              <a:rPr lang="de-DE" sz="1000" b="1" dirty="0" err="1">
                <a:solidFill>
                  <a:srgbClr val="58645B"/>
                </a:solidFill>
                <a:latin typeface="Aptos"/>
              </a:rPr>
              <a:t>failure</a:t>
            </a:r>
            <a:r>
              <a:rPr lang="de-DE" sz="1000" b="1" dirty="0">
                <a:solidFill>
                  <a:srgbClr val="58645B"/>
                </a:solidFill>
                <a:latin typeface="Aptos"/>
              </a:rPr>
              <a:t> </a:t>
            </a:r>
            <a:endParaRPr sz="1000" b="1" dirty="0">
              <a:solidFill>
                <a:srgbClr val="58645B"/>
              </a:solidFill>
              <a:latin typeface="Aptos"/>
            </a:endParaRPr>
          </a:p>
        </p:txBody>
      </p:sp>
      <p:sp>
        <p:nvSpPr>
          <p:cNvPr id="24" name="Rounded Rectangle 17"/>
          <p:cNvSpPr/>
          <p:nvPr/>
        </p:nvSpPr>
        <p:spPr>
          <a:xfrm>
            <a:off x="7397496" y="3337560"/>
            <a:ext cx="2984754" cy="86868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18"/>
          <p:cNvSpPr txBox="1"/>
          <p:nvPr/>
        </p:nvSpPr>
        <p:spPr>
          <a:xfrm>
            <a:off x="7562088" y="3483864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dirty="0">
                <a:solidFill>
                  <a:srgbClr val="DFF5E4"/>
                </a:solidFill>
                <a:latin typeface="Aptos"/>
              </a:rPr>
              <a:t>Notification</a:t>
            </a:r>
          </a:p>
        </p:txBody>
      </p:sp>
      <p:sp>
        <p:nvSpPr>
          <p:cNvPr id="26" name="TextBox 19"/>
          <p:cNvSpPr txBox="1"/>
          <p:nvPr/>
        </p:nvSpPr>
        <p:spPr>
          <a:xfrm>
            <a:off x="7562088" y="3794760"/>
            <a:ext cx="256032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de-DE" sz="1150" b="0" dirty="0">
                <a:solidFill>
                  <a:srgbClr val="FFFFFF"/>
                </a:solidFill>
                <a:latin typeface="Aptos"/>
              </a:rPr>
              <a:t>Alert via </a:t>
            </a:r>
            <a:r>
              <a:rPr lang="de-DE" sz="1150" dirty="0" err="1">
                <a:solidFill>
                  <a:srgbClr val="FFFFFF"/>
                </a:solidFill>
                <a:latin typeface="Aptos"/>
              </a:rPr>
              <a:t>emails</a:t>
            </a:r>
            <a:r>
              <a:rPr sz="1150" b="0" dirty="0">
                <a:solidFill>
                  <a:srgbClr val="FFFFFF"/>
                </a:solidFill>
                <a:latin typeface="Aptos"/>
              </a:rPr>
              <a:t> on errors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0C18B-D69B-3CCF-0DD2-FBA71514A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52794-9615-21CD-7BCD-98243930C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34951"/>
            <a:ext cx="11522075" cy="679223"/>
          </a:xfrm>
        </p:spPr>
        <p:txBody>
          <a:bodyPr wrap="square" anchor="t"/>
          <a:lstStyle/>
          <a:p>
            <a:r>
              <a:rPr lang="de-DE" sz="2700" dirty="0">
                <a:solidFill>
                  <a:srgbClr val="005020"/>
                </a:solidFill>
                <a:latin typeface="Aptos"/>
              </a:rPr>
              <a:t>AUTOMATED TESTING – WHEN &amp; WHY</a:t>
            </a:r>
            <a:endParaRPr sz="2700" b="1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EEB028-565D-9E6F-8CD3-304950ACA325}"/>
              </a:ext>
            </a:extLst>
          </p:cNvPr>
          <p:cNvSpPr txBox="1"/>
          <p:nvPr/>
        </p:nvSpPr>
        <p:spPr>
          <a:xfrm>
            <a:off x="791988" y="1453240"/>
            <a:ext cx="10601141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2000" b="1" dirty="0" err="1">
                <a:solidFill>
                  <a:srgbClr val="005C2D"/>
                </a:solidFill>
              </a:rPr>
              <a:t>Pytest</a:t>
            </a:r>
            <a:r>
              <a:rPr lang="en-US" sz="2000" b="1" dirty="0">
                <a:solidFill>
                  <a:srgbClr val="005C2D"/>
                </a:solidFill>
              </a:rPr>
              <a:t> validates critical code logic independently from the monthly Airflow data run.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05B13BF-361D-2FA3-A89E-5EE8F4F160CE}"/>
              </a:ext>
            </a:extLst>
          </p:cNvPr>
          <p:cNvSpPr/>
          <p:nvPr/>
        </p:nvSpPr>
        <p:spPr>
          <a:xfrm>
            <a:off x="830327" y="1910440"/>
            <a:ext cx="4663437" cy="160705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D043B3-7FDF-106D-0282-5A284CFD559E}"/>
              </a:ext>
            </a:extLst>
          </p:cNvPr>
          <p:cNvSpPr txBox="1"/>
          <p:nvPr/>
        </p:nvSpPr>
        <p:spPr>
          <a:xfrm>
            <a:off x="1104648" y="1982120"/>
            <a:ext cx="201168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100" b="1" dirty="0">
                <a:solidFill>
                  <a:srgbClr val="DFF5E4"/>
                </a:solidFill>
                <a:latin typeface="Aptos"/>
              </a:rPr>
              <a:t>WHAT IS TESTED?</a:t>
            </a:r>
            <a:endParaRPr sz="1100" b="1" dirty="0">
              <a:solidFill>
                <a:srgbClr val="DFF5E4"/>
              </a:solidFill>
              <a:latin typeface="Apto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64C497-EEF3-2603-ECC1-72D2CD5BBAB7}"/>
              </a:ext>
            </a:extLst>
          </p:cNvPr>
          <p:cNvSpPr txBox="1"/>
          <p:nvPr/>
        </p:nvSpPr>
        <p:spPr>
          <a:xfrm>
            <a:off x="1104648" y="2154682"/>
            <a:ext cx="3698088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 err="1"/>
              <a:t>schema</a:t>
            </a:r>
            <a:r>
              <a:rPr lang="de-DE" dirty="0"/>
              <a:t> </a:t>
            </a:r>
            <a:r>
              <a:rPr lang="de-DE" dirty="0" err="1"/>
              <a:t>validation</a:t>
            </a:r>
            <a:endParaRPr lang="de-DE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 err="1"/>
              <a:t>data</a:t>
            </a:r>
            <a:r>
              <a:rPr lang="de-DE" dirty="0"/>
              <a:t>-quality </a:t>
            </a:r>
            <a:r>
              <a:rPr lang="de-DE" dirty="0" err="1"/>
              <a:t>rules</a:t>
            </a:r>
            <a:r>
              <a:rPr lang="de-DE" dirty="0"/>
              <a:t> &amp; route </a:t>
            </a:r>
            <a:r>
              <a:rPr lang="de-DE" dirty="0" err="1"/>
              <a:t>logic</a:t>
            </a:r>
            <a:endParaRPr lang="de-DE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 err="1"/>
              <a:t>Silver</a:t>
            </a:r>
            <a:r>
              <a:rPr lang="de-DE" dirty="0"/>
              <a:t> </a:t>
            </a:r>
            <a:r>
              <a:rPr lang="de-DE" dirty="0" err="1"/>
              <a:t>flight</a:t>
            </a:r>
            <a:r>
              <a:rPr lang="de-DE" dirty="0"/>
              <a:t> &amp; </a:t>
            </a:r>
            <a:r>
              <a:rPr lang="de-DE" dirty="0" err="1"/>
              <a:t>reference</a:t>
            </a:r>
            <a:r>
              <a:rPr lang="de-DE" dirty="0"/>
              <a:t> </a:t>
            </a:r>
            <a:r>
              <a:rPr lang="de-DE" dirty="0" err="1"/>
              <a:t>path</a:t>
            </a:r>
            <a:r>
              <a:rPr lang="de-DE" dirty="0"/>
              <a:t> </a:t>
            </a:r>
            <a:r>
              <a:rPr lang="de-DE" dirty="0" err="1"/>
              <a:t>handling</a:t>
            </a:r>
            <a:endParaRPr lang="de-DE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 err="1"/>
              <a:t>controlled</a:t>
            </a:r>
            <a:r>
              <a:rPr lang="de-DE" dirty="0"/>
              <a:t> </a:t>
            </a:r>
            <a:r>
              <a:rPr lang="de-DE" dirty="0" err="1"/>
              <a:t>failure</a:t>
            </a:r>
            <a:r>
              <a:rPr lang="de-DE" dirty="0"/>
              <a:t> </a:t>
            </a:r>
            <a:r>
              <a:rPr lang="de-DE" dirty="0" err="1"/>
              <a:t>behaviour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4E0B06-7584-1C52-23D6-72FC4B14AB7D}"/>
              </a:ext>
            </a:extLst>
          </p:cNvPr>
          <p:cNvSpPr txBox="1"/>
          <p:nvPr/>
        </p:nvSpPr>
        <p:spPr>
          <a:xfrm>
            <a:off x="868680" y="5605272"/>
            <a:ext cx="9601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de-DE"/>
            </a:defPPr>
            <a:lvl1pPr algn="ctr">
              <a:defRPr sz="1600" b="1">
                <a:solidFill>
                  <a:srgbClr val="58645B"/>
                </a:solidFill>
                <a:latin typeface="Aptos"/>
              </a:defRPr>
            </a:lvl1pPr>
          </a:lstStyle>
          <a:p>
            <a:r>
              <a:rPr lang="en-US" dirty="0"/>
              <a:t>Monthly Airflow quality checks validate new data – </a:t>
            </a:r>
            <a:r>
              <a:rPr lang="en-US" dirty="0" err="1"/>
              <a:t>pytest</a:t>
            </a:r>
            <a:r>
              <a:rPr lang="en-US" dirty="0"/>
              <a:t> validates the code when the code changes.</a:t>
            </a:r>
            <a:endParaRPr dirty="0"/>
          </a:p>
        </p:txBody>
      </p:sp>
      <p:sp>
        <p:nvSpPr>
          <p:cNvPr id="12" name="TextBox 22">
            <a:extLst>
              <a:ext uri="{FF2B5EF4-FFF2-40B4-BE49-F238E27FC236}">
                <a16:creationId xmlns:a16="http://schemas.microsoft.com/office/drawing/2014/main" id="{AA1A3F1D-78DF-88CB-9B00-D668F914EDCA}"/>
              </a:ext>
            </a:extLst>
          </p:cNvPr>
          <p:cNvSpPr txBox="1"/>
          <p:nvPr/>
        </p:nvSpPr>
        <p:spPr>
          <a:xfrm>
            <a:off x="2743200" y="5876636"/>
            <a:ext cx="630936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1000" b="1" dirty="0">
                <a:latin typeface="Aptos" panose="020B0004020202020204" pitchFamily="34" charset="0"/>
              </a:rPr>
              <a:t>Current setup: </a:t>
            </a:r>
            <a:r>
              <a:rPr lang="en-US" sz="1000" b="1" dirty="0" err="1">
                <a:latin typeface="Aptos" panose="020B0004020202020204" pitchFamily="34" charset="0"/>
              </a:rPr>
              <a:t>pytest</a:t>
            </a:r>
            <a:r>
              <a:rPr lang="en-US" sz="1000" b="1" dirty="0">
                <a:latin typeface="Aptos" panose="020B0004020202020204" pitchFamily="34" charset="0"/>
              </a:rPr>
              <a:t> is started manually - it is not part of the Airflow DAG.</a:t>
            </a:r>
            <a:r>
              <a:rPr lang="de-DE" sz="1000" b="1" dirty="0">
                <a:solidFill>
                  <a:srgbClr val="58645B"/>
                </a:solidFill>
                <a:latin typeface="Aptos" panose="020B0004020202020204" pitchFamily="34" charset="0"/>
              </a:rPr>
              <a:t> </a:t>
            </a:r>
            <a:endParaRPr sz="1000" b="1" dirty="0">
              <a:solidFill>
                <a:srgbClr val="58645B"/>
              </a:solidFill>
              <a:latin typeface="Aptos" panose="020B0004020202020204" pitchFamily="34" charset="0"/>
            </a:endParaRPr>
          </a:p>
        </p:txBody>
      </p:sp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1AEDAAA8-F657-70D1-C28F-A8C1295D4861}"/>
              </a:ext>
            </a:extLst>
          </p:cNvPr>
          <p:cNvSpPr/>
          <p:nvPr/>
        </p:nvSpPr>
        <p:spPr>
          <a:xfrm>
            <a:off x="830327" y="3617750"/>
            <a:ext cx="4663437" cy="160705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6D658B2B-16FB-1101-F7A6-8ABED01A4B6F}"/>
              </a:ext>
            </a:extLst>
          </p:cNvPr>
          <p:cNvSpPr txBox="1"/>
          <p:nvPr/>
        </p:nvSpPr>
        <p:spPr>
          <a:xfrm>
            <a:off x="1104648" y="3689430"/>
            <a:ext cx="233172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de-DE" sz="1100" b="1" dirty="0">
                <a:solidFill>
                  <a:srgbClr val="DFF5E4"/>
                </a:solidFill>
                <a:latin typeface="Aptos"/>
              </a:rPr>
              <a:t>WHEN SHOULD TESTS BE RUN?</a:t>
            </a:r>
            <a:endParaRPr sz="1100" b="1" dirty="0">
              <a:solidFill>
                <a:srgbClr val="DFF5E4"/>
              </a:solidFill>
              <a:latin typeface="Aptos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30FF2E97-F4DC-D2F5-8786-D3AF3A3C1597}"/>
              </a:ext>
            </a:extLst>
          </p:cNvPr>
          <p:cNvSpPr txBox="1"/>
          <p:nvPr/>
        </p:nvSpPr>
        <p:spPr>
          <a:xfrm>
            <a:off x="1104646" y="3861992"/>
            <a:ext cx="4389119" cy="1284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after </a:t>
            </a:r>
            <a:r>
              <a:rPr lang="de-DE" dirty="0" err="1"/>
              <a:t>changes</a:t>
            </a:r>
            <a:r>
              <a:rPr lang="de-DE" dirty="0"/>
              <a:t> to </a:t>
            </a:r>
            <a:r>
              <a:rPr lang="de-DE" dirty="0" err="1"/>
              <a:t>transformation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loading</a:t>
            </a:r>
            <a:r>
              <a:rPr lang="de-DE" dirty="0"/>
              <a:t> code</a:t>
            </a:r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 err="1"/>
              <a:t>before</a:t>
            </a:r>
            <a:r>
              <a:rPr lang="de-DE" dirty="0"/>
              <a:t> </a:t>
            </a:r>
            <a:r>
              <a:rPr lang="de-DE" dirty="0" err="1"/>
              <a:t>commit</a:t>
            </a:r>
            <a:r>
              <a:rPr lang="de-DE" dirty="0"/>
              <a:t> / release / </a:t>
            </a:r>
            <a:r>
              <a:rPr lang="de-DE" dirty="0" err="1"/>
              <a:t>presentation</a:t>
            </a:r>
            <a:endParaRPr lang="de-DE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After </a:t>
            </a:r>
            <a:r>
              <a:rPr lang="de-DE" dirty="0" err="1"/>
              <a:t>dependency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environment</a:t>
            </a:r>
            <a:r>
              <a:rPr lang="de-DE" dirty="0"/>
              <a:t> </a:t>
            </a:r>
            <a:r>
              <a:rPr lang="de-DE" dirty="0" err="1"/>
              <a:t>changes</a:t>
            </a:r>
            <a:endParaRPr lang="de-DE" dirty="0"/>
          </a:p>
          <a:p>
            <a:pPr marL="285750" indent="-285750">
              <a:spcAft>
                <a:spcPts val="700"/>
              </a:spcAft>
              <a:buFont typeface="Arial" panose="020B0604020202020204" pitchFamily="34" charset="0"/>
              <a:buChar char="•"/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Not </a:t>
            </a:r>
            <a:r>
              <a:rPr lang="de-DE" dirty="0" err="1"/>
              <a:t>simply</a:t>
            </a:r>
            <a:r>
              <a:rPr lang="de-DE" dirty="0"/>
              <a:t> </a:t>
            </a:r>
            <a:r>
              <a:rPr lang="de-DE" dirty="0" err="1"/>
              <a:t>because</a:t>
            </a:r>
            <a:r>
              <a:rPr lang="de-DE" dirty="0"/>
              <a:t> a </a:t>
            </a:r>
            <a:r>
              <a:rPr lang="de-DE" dirty="0" err="1"/>
              <a:t>new</a:t>
            </a:r>
            <a:r>
              <a:rPr lang="de-DE" dirty="0"/>
              <a:t> </a:t>
            </a:r>
            <a:r>
              <a:rPr lang="de-DE" dirty="0" err="1"/>
              <a:t>month</a:t>
            </a:r>
            <a:r>
              <a:rPr lang="de-DE" dirty="0"/>
              <a:t> </a:t>
            </a:r>
            <a:r>
              <a:rPr lang="de-DE" dirty="0" err="1"/>
              <a:t>arrives</a:t>
            </a:r>
            <a:endParaRPr dirty="0"/>
          </a:p>
        </p:txBody>
      </p:sp>
      <p:pic>
        <p:nvPicPr>
          <p:cNvPr id="20" name="Picture 5" descr="template_slide2_image.png">
            <a:extLst>
              <a:ext uri="{FF2B5EF4-FFF2-40B4-BE49-F238E27FC236}">
                <a16:creationId xmlns:a16="http://schemas.microsoft.com/office/drawing/2014/main" id="{4FE1A6CF-DB17-B3AF-43C1-5C46BB929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56" y="2154154"/>
            <a:ext cx="5120640" cy="284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760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CONSUMPTION LAYER </a:t>
            </a:r>
            <a:r>
              <a:rPr lang="de-DE" sz="27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2700" b="1" dirty="0">
                <a:solidFill>
                  <a:srgbClr val="005020"/>
                </a:solidFill>
                <a:latin typeface="Aptos"/>
              </a:rPr>
              <a:t> RELIABILITY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38" y="1453240"/>
            <a:ext cx="10587447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005020"/>
                </a:solidFill>
                <a:latin typeface="Aptos"/>
              </a:rPr>
              <a:t>The Gold layer becomes an interactive decision layer </a:t>
            </a:r>
            <a:r>
              <a:rPr lang="de-DE" sz="1900" b="1" dirty="0">
                <a:solidFill>
                  <a:srgbClr val="005020"/>
                </a:solidFill>
                <a:latin typeface="Aptos"/>
              </a:rPr>
              <a:t>-</a:t>
            </a:r>
            <a:r>
              <a:rPr sz="1900" b="1" dirty="0">
                <a:solidFill>
                  <a:srgbClr val="005020"/>
                </a:solidFill>
                <a:latin typeface="Aptos"/>
              </a:rPr>
              <a:t> without exposing pipeline complexity.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286000"/>
            <a:ext cx="2971800" cy="173736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560320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DFF5E4"/>
                </a:solidFill>
                <a:latin typeface="Aptos"/>
              </a:rPr>
              <a:t>AIRLINES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072384"/>
            <a:ext cx="2560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>
                <a:solidFill>
                  <a:srgbClr val="FFFFFF"/>
                </a:solidFill>
                <a:latin typeface="Aptos"/>
              </a:rPr>
              <a:t>KPI comparison and development over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286000"/>
            <a:ext cx="2971800" cy="173736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2560320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DFF5E4"/>
                </a:solidFill>
                <a:latin typeface="Aptos"/>
              </a:rPr>
              <a:t>AIRPORTS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3072384"/>
            <a:ext cx="2560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>
                <a:solidFill>
                  <a:srgbClr val="FFFFFF"/>
                </a:solidFill>
                <a:latin typeface="Aptos"/>
              </a:rPr>
              <a:t>departure </a:t>
            </a:r>
            <a:r>
              <a:rPr lang="de-DE" sz="1400" b="0" dirty="0">
                <a:solidFill>
                  <a:srgbClr val="FFFFFF"/>
                </a:solidFill>
                <a:latin typeface="Aptos"/>
              </a:rPr>
              <a:t>&amp;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 arrival</a:t>
            </a:r>
            <a:r>
              <a:rPr lang="de-DE" sz="1400" b="0" dirty="0">
                <a:solidFill>
                  <a:srgbClr val="FFFFFF"/>
                </a:solidFill>
                <a:latin typeface="Aptos"/>
              </a:rPr>
              <a:t> </a:t>
            </a:r>
            <a:r>
              <a:rPr lang="de-DE" sz="1400" b="0" dirty="0" err="1">
                <a:solidFill>
                  <a:srgbClr val="FFFFFF"/>
                </a:solidFill>
                <a:latin typeface="Aptos"/>
              </a:rPr>
              <a:t>reliability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 </a:t>
            </a:r>
            <a:endParaRPr lang="de-DE" sz="1400" b="0" dirty="0">
              <a:solidFill>
                <a:srgbClr val="FFFFFF"/>
              </a:solidFill>
              <a:latin typeface="Aptos"/>
            </a:endParaRPr>
          </a:p>
          <a:p>
            <a:pPr algn="ctr"/>
            <a:r>
              <a:rPr lang="de-DE" sz="1400" b="0" dirty="0" err="1">
                <a:solidFill>
                  <a:srgbClr val="FFFFFF"/>
                </a:solidFill>
                <a:latin typeface="Aptos"/>
              </a:rPr>
              <a:t>with</a:t>
            </a:r>
            <a:r>
              <a:rPr lang="de-DE" sz="1400" b="0" dirty="0">
                <a:solidFill>
                  <a:srgbClr val="FFFFFF"/>
                </a:solidFill>
                <a:latin typeface="Aptos"/>
              </a:rPr>
              <a:t> KPI and</a:t>
            </a:r>
            <a:r>
              <a:rPr sz="1400" b="0" dirty="0">
                <a:solidFill>
                  <a:srgbClr val="FFFFFF"/>
                </a:solidFill>
                <a:latin typeface="Aptos"/>
              </a:rPr>
              <a:t> 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286000"/>
            <a:ext cx="2971800" cy="173736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26679" y="2560320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DFF5E4"/>
                </a:solidFill>
                <a:latin typeface="Aptos"/>
              </a:rPr>
              <a:t>ROUTES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4112" y="3072384"/>
            <a:ext cx="25603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comparison, map and specific-route analysis</a:t>
            </a:r>
          </a:p>
        </p:txBody>
      </p:sp>
      <p:sp>
        <p:nvSpPr>
          <p:cNvPr id="15" name="Rounded Rectangle 14">
            <a:hlinkClick r:id="rId2"/>
          </p:cNvPr>
          <p:cNvSpPr/>
          <p:nvPr/>
        </p:nvSpPr>
        <p:spPr>
          <a:xfrm>
            <a:off x="4069080" y="4809744"/>
            <a:ext cx="3749039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69080" y="4882896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05020"/>
                </a:solidFill>
                <a:latin typeface="Aptos"/>
              </a:rPr>
              <a:t>▶ OPEN LIVE 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413248"/>
            <a:ext cx="72694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>
                <a:solidFill>
                  <a:srgbClr val="58645B"/>
                </a:solidFill>
                <a:latin typeface="Aptos"/>
              </a:rPr>
              <a:t>Live demo: Airlines → Airports → Routes - selected interactions only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DDF9FABB-6CEF-8AE9-D948-608577322A90}"/>
              </a:ext>
            </a:extLst>
          </p:cNvPr>
          <p:cNvSpPr txBox="1">
            <a:spLocks/>
          </p:cNvSpPr>
          <p:nvPr/>
        </p:nvSpPr>
        <p:spPr>
          <a:xfrm>
            <a:off x="354416" y="280068"/>
            <a:ext cx="11502621" cy="1143000"/>
          </a:xfrm>
          <a:prstGeom prst="rect">
            <a:avLst/>
          </a:prstGeom>
        </p:spPr>
        <p:txBody>
          <a:bodyPr wrap="square" anchor="t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595959"/>
                </a:solidFill>
                <a:latin typeface="Helvetica-Bold"/>
                <a:cs typeface="Tahom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595959"/>
                </a:solidFill>
                <a:latin typeface="Helvetica-Bold"/>
                <a:cs typeface="Tahom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595959"/>
                </a:solidFill>
                <a:latin typeface="Helvetica-Bold"/>
                <a:cs typeface="Tahom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595959"/>
                </a:solidFill>
                <a:latin typeface="Helvetica-Bold"/>
                <a:cs typeface="Tahom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646B86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646B86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646B86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646B86"/>
                </a:solidFill>
                <a:latin typeface="Arial" charset="0"/>
              </a:defRPr>
            </a:lvl9pPr>
          </a:lstStyle>
          <a:p>
            <a:r>
              <a:rPr lang="de-DE" sz="2700" kern="0" dirty="0">
                <a:solidFill>
                  <a:srgbClr val="005020"/>
                </a:solidFill>
                <a:latin typeface="Aptos"/>
              </a:rPr>
              <a:t>5 AIRLINES WITH THE MOST FLIGHTS 01/25-06/26 (PLUS </a:t>
            </a:r>
          </a:p>
          <a:p>
            <a:r>
              <a:rPr lang="de-DE" sz="2700" kern="0" dirty="0">
                <a:solidFill>
                  <a:srgbClr val="005020"/>
                </a:solidFill>
                <a:latin typeface="Aptos"/>
              </a:rPr>
              <a:t>ALL AIRLINES), METRIC: AVERAGE DEPARTURE DELAY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12C6464C-F017-9535-E086-3E25F1C3B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256" y="1511723"/>
            <a:ext cx="7467680" cy="4624029"/>
          </a:xfrm>
          <a:prstGeom prst="rect">
            <a:avLst/>
          </a:prstGeom>
          <a:ln>
            <a:solidFill>
              <a:srgbClr val="0A7A35"/>
            </a:solidFill>
          </a:ln>
        </p:spPr>
      </p:pic>
    </p:spTree>
    <p:extLst>
      <p:ext uri="{BB962C8B-B14F-4D97-AF65-F5344CB8AC3E}">
        <p14:creationId xmlns:p14="http://schemas.microsoft.com/office/powerpoint/2010/main" val="2450462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F17CF-7C73-14AE-DAB7-BD2BD8FDC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51528784-C5C9-CFF4-325A-ECDF45A9DD26}"/>
              </a:ext>
            </a:extLst>
          </p:cNvPr>
          <p:cNvSpPr txBox="1">
            <a:spLocks/>
          </p:cNvSpPr>
          <p:nvPr/>
        </p:nvSpPr>
        <p:spPr>
          <a:xfrm>
            <a:off x="354416" y="280068"/>
            <a:ext cx="11502621" cy="1143000"/>
          </a:xfrm>
          <a:prstGeom prst="rect">
            <a:avLst/>
          </a:prstGeom>
        </p:spPr>
        <p:txBody>
          <a:bodyPr wrap="square" anchor="t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595959"/>
                </a:solidFill>
                <a:latin typeface="Helvetica-Bold"/>
                <a:cs typeface="Tahom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595959"/>
                </a:solidFill>
                <a:latin typeface="Helvetica-Bold"/>
                <a:cs typeface="Tahom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595959"/>
                </a:solidFill>
                <a:latin typeface="Helvetica-Bold"/>
                <a:cs typeface="Tahom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595959"/>
                </a:solidFill>
                <a:latin typeface="Helvetica-Bold"/>
                <a:cs typeface="Tahom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646B86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646B86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646B86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646B86"/>
                </a:solidFill>
                <a:latin typeface="Arial" charset="0"/>
              </a:defRPr>
            </a:lvl9pPr>
          </a:lstStyle>
          <a:p>
            <a:r>
              <a:rPr lang="en-US" sz="2700" kern="0" dirty="0">
                <a:solidFill>
                  <a:srgbClr val="005020"/>
                </a:solidFill>
                <a:latin typeface="Aptos"/>
              </a:rPr>
              <a:t>TOP 38 ROUTES: 01/25 - 06/26 (&gt; 0.1% OF TOTAL TRAFFIC / </a:t>
            </a:r>
          </a:p>
          <a:p>
            <a:r>
              <a:rPr lang="en-US" sz="2700" kern="0" dirty="0">
                <a:solidFill>
                  <a:srgbClr val="005020"/>
                </a:solidFill>
                <a:latin typeface="Aptos"/>
              </a:rPr>
              <a:t>~10M FLIGHTS), METRIC: AVERAGE ARRIVAL DELAY</a:t>
            </a:r>
            <a:endParaRPr lang="de-DE" sz="2700" kern="0" dirty="0">
              <a:solidFill>
                <a:srgbClr val="005020"/>
              </a:solidFill>
              <a:latin typeface="Aptos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CE344C4-EF7C-CABF-45B3-565F52332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091" y="1478872"/>
            <a:ext cx="7740746" cy="4807628"/>
          </a:xfrm>
          <a:prstGeom prst="rect">
            <a:avLst/>
          </a:prstGeom>
          <a:ln>
            <a:solidFill>
              <a:srgbClr val="0A7A35"/>
            </a:solidFill>
          </a:ln>
        </p:spPr>
      </p:pic>
    </p:spTree>
    <p:extLst>
      <p:ext uri="{BB962C8B-B14F-4D97-AF65-F5344CB8AC3E}">
        <p14:creationId xmlns:p14="http://schemas.microsoft.com/office/powerpoint/2010/main" val="1991136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0EFB9-E461-C9F2-2FEE-0243995B2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>
            <a:extLst>
              <a:ext uri="{FF2B5EF4-FFF2-40B4-BE49-F238E27FC236}">
                <a16:creationId xmlns:a16="http://schemas.microsoft.com/office/drawing/2014/main" id="{E0E7371F-2044-B3DB-92B0-57F75D5243FE}"/>
              </a:ext>
            </a:extLst>
          </p:cNvPr>
          <p:cNvSpPr txBox="1">
            <a:spLocks/>
          </p:cNvSpPr>
          <p:nvPr/>
        </p:nvSpPr>
        <p:spPr>
          <a:xfrm>
            <a:off x="354416" y="280068"/>
            <a:ext cx="11502621" cy="1143000"/>
          </a:xfrm>
          <a:prstGeom prst="rect">
            <a:avLst/>
          </a:prstGeom>
        </p:spPr>
        <p:txBody>
          <a:bodyPr wrap="square" anchor="t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bg2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595959"/>
                </a:solidFill>
                <a:latin typeface="Helvetica-Bold"/>
                <a:cs typeface="Tahom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595959"/>
                </a:solidFill>
                <a:latin typeface="Helvetica-Bold"/>
                <a:cs typeface="Tahom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595959"/>
                </a:solidFill>
                <a:latin typeface="Helvetica-Bold"/>
                <a:cs typeface="Tahom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595959"/>
                </a:solidFill>
                <a:latin typeface="Helvetica-Bold"/>
                <a:cs typeface="Tahoma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646B86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646B86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646B86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646B86"/>
                </a:solidFill>
                <a:latin typeface="Arial" charset="0"/>
              </a:defRPr>
            </a:lvl9pPr>
          </a:lstStyle>
          <a:p>
            <a:r>
              <a:rPr lang="de-DE" sz="2700" kern="0" dirty="0">
                <a:solidFill>
                  <a:srgbClr val="005020"/>
                </a:solidFill>
                <a:latin typeface="Aptos"/>
              </a:rPr>
              <a:t>AIRPORTS WITH THE MOST FLIGHTS 01/25-06/26, </a:t>
            </a:r>
          </a:p>
          <a:p>
            <a:r>
              <a:rPr lang="de-DE" sz="2700" kern="0" dirty="0">
                <a:solidFill>
                  <a:srgbClr val="005020"/>
                </a:solidFill>
                <a:latin typeface="Aptos"/>
              </a:rPr>
              <a:t>METRIC: ON-TIME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54C4406-D2AA-B45E-F009-E64D6BC30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15" y="1457118"/>
            <a:ext cx="11471845" cy="4806947"/>
          </a:xfrm>
          <a:prstGeom prst="rect">
            <a:avLst/>
          </a:prstGeom>
          <a:ln>
            <a:solidFill>
              <a:srgbClr val="0A7A35"/>
            </a:solidFill>
          </a:ln>
        </p:spPr>
      </p:pic>
    </p:spTree>
    <p:extLst>
      <p:ext uri="{BB962C8B-B14F-4D97-AF65-F5344CB8AC3E}">
        <p14:creationId xmlns:p14="http://schemas.microsoft.com/office/powerpoint/2010/main" val="533016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r>
              <a:rPr sz="2700" b="1" dirty="0">
                <a:solidFill>
                  <a:srgbClr val="005020"/>
                </a:solidFill>
                <a:latin typeface="Aptos"/>
              </a:rPr>
              <a:t>RE</a:t>
            </a:r>
            <a:r>
              <a:rPr lang="de-DE" sz="2700" b="1" dirty="0">
                <a:solidFill>
                  <a:srgbClr val="005020"/>
                </a:solidFill>
                <a:latin typeface="Aptos"/>
              </a:rPr>
              <a:t>SULTS</a:t>
            </a:r>
            <a:r>
              <a:rPr sz="2700" b="1" dirty="0">
                <a:solidFill>
                  <a:srgbClr val="005020"/>
                </a:solidFill>
                <a:latin typeface="Aptos"/>
              </a:rPr>
              <a:t> &amp; </a:t>
            </a:r>
            <a:r>
              <a:rPr lang="de-DE" sz="2700" b="1" dirty="0">
                <a:solidFill>
                  <a:srgbClr val="005020"/>
                </a:solidFill>
                <a:latin typeface="Aptos"/>
              </a:rPr>
              <a:t>RECOMMENDATION</a:t>
            </a:r>
            <a:endParaRPr sz="2700" b="1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363200" cy="327660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365846" y="5171420"/>
            <a:ext cx="11234057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>
            <a:defPPr>
              <a:defRPr lang="de-DE"/>
            </a:defPPr>
            <a:lvl1pPr algn="ctr">
              <a:defRPr sz="1200"/>
            </a:lvl1pPr>
          </a:lstStyle>
          <a:p>
            <a:r>
              <a:rPr lang="en-US" sz="1600" b="1" dirty="0">
                <a:latin typeface="Aptos" panose="020B0004020202020204" pitchFamily="34" charset="0"/>
              </a:rPr>
              <a:t>The outcome enables data-driven decisions on airline, airport, and route reliability - without accessing raw files.</a:t>
            </a:r>
          </a:p>
        </p:txBody>
      </p:sp>
      <p:sp>
        <p:nvSpPr>
          <p:cNvPr id="24" name="Rounded Rectangle 5">
            <a:extLst>
              <a:ext uri="{FF2B5EF4-FFF2-40B4-BE49-F238E27FC236}">
                <a16:creationId xmlns:a16="http://schemas.microsoft.com/office/drawing/2014/main" id="{A65B640E-5FA8-7B88-7D8D-0887B9160049}"/>
              </a:ext>
            </a:extLst>
          </p:cNvPr>
          <p:cNvSpPr/>
          <p:nvPr/>
        </p:nvSpPr>
        <p:spPr>
          <a:xfrm>
            <a:off x="2050049" y="2267058"/>
            <a:ext cx="1987200" cy="1047750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0C7D2C"/>
                </a:solidFill>
                <a:latin typeface="Aptos" panose="020B0004020202020204" pitchFamily="34" charset="0"/>
              </a:rPr>
              <a:t>Reliable </a:t>
            </a:r>
            <a:r>
              <a:rPr lang="de-DE" dirty="0" err="1">
                <a:solidFill>
                  <a:srgbClr val="0C7D2C"/>
                </a:solidFill>
                <a:latin typeface="Aptos" panose="020B0004020202020204" pitchFamily="34" charset="0"/>
              </a:rPr>
              <a:t>monthly</a:t>
            </a:r>
            <a:r>
              <a:rPr lang="de-DE" dirty="0">
                <a:solidFill>
                  <a:srgbClr val="0C7D2C"/>
                </a:solidFill>
                <a:latin typeface="Aptos" panose="020B0004020202020204" pitchFamily="34" charset="0"/>
              </a:rPr>
              <a:t> KPI </a:t>
            </a:r>
            <a:r>
              <a:rPr lang="de-DE" dirty="0" err="1">
                <a:solidFill>
                  <a:srgbClr val="0C7D2C"/>
                </a:solidFill>
                <a:latin typeface="Aptos" panose="020B0004020202020204" pitchFamily="34" charset="0"/>
              </a:rPr>
              <a:t>basis</a:t>
            </a:r>
            <a:endParaRPr lang="de-DE" dirty="0">
              <a:solidFill>
                <a:srgbClr val="0C7D2C"/>
              </a:solidFill>
              <a:latin typeface="Aptos" panose="020B0004020202020204" pitchFamily="34" charset="0"/>
            </a:endParaRPr>
          </a:p>
        </p:txBody>
      </p:sp>
      <p:sp>
        <p:nvSpPr>
          <p:cNvPr id="25" name="Rounded Rectangle 5">
            <a:extLst>
              <a:ext uri="{FF2B5EF4-FFF2-40B4-BE49-F238E27FC236}">
                <a16:creationId xmlns:a16="http://schemas.microsoft.com/office/drawing/2014/main" id="{23C8AF63-9110-F2CE-7CB0-D8A4A52AFA81}"/>
              </a:ext>
            </a:extLst>
          </p:cNvPr>
          <p:cNvSpPr/>
          <p:nvPr/>
        </p:nvSpPr>
        <p:spPr>
          <a:xfrm>
            <a:off x="7953371" y="2267058"/>
            <a:ext cx="1987200" cy="1047750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0C7D2C"/>
                </a:solidFill>
                <a:latin typeface="Aptos" panose="020B0004020202020204" pitchFamily="34" charset="0"/>
              </a:rPr>
              <a:t>I</a:t>
            </a:r>
            <a:r>
              <a:rPr lang="en-US" dirty="0" err="1">
                <a:solidFill>
                  <a:srgbClr val="0C7D2C"/>
                </a:solidFill>
                <a:latin typeface="Aptos" panose="020B0004020202020204" pitchFamily="34" charset="0"/>
              </a:rPr>
              <a:t>dentify</a:t>
            </a:r>
            <a:r>
              <a:rPr lang="en-US" dirty="0">
                <a:solidFill>
                  <a:srgbClr val="0C7D2C"/>
                </a:solidFill>
                <a:latin typeface="Aptos" panose="020B0004020202020204" pitchFamily="34" charset="0"/>
              </a:rPr>
              <a:t> areas for deeper analysis</a:t>
            </a:r>
          </a:p>
        </p:txBody>
      </p:sp>
      <p:sp>
        <p:nvSpPr>
          <p:cNvPr id="26" name="Rounded Rectangle 5">
            <a:extLst>
              <a:ext uri="{FF2B5EF4-FFF2-40B4-BE49-F238E27FC236}">
                <a16:creationId xmlns:a16="http://schemas.microsoft.com/office/drawing/2014/main" id="{20BE8913-C6B3-E46A-96AB-67639D12720A}"/>
              </a:ext>
            </a:extLst>
          </p:cNvPr>
          <p:cNvSpPr/>
          <p:nvPr/>
        </p:nvSpPr>
        <p:spPr>
          <a:xfrm>
            <a:off x="4305301" y="3546770"/>
            <a:ext cx="3314700" cy="1047750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b="1" dirty="0">
                <a:solidFill>
                  <a:srgbClr val="0C7D2C"/>
                </a:solidFill>
                <a:latin typeface="Aptos" panose="020B0004020202020204" pitchFamily="34" charset="0"/>
              </a:rPr>
              <a:t>S</a:t>
            </a:r>
            <a:r>
              <a:rPr lang="en-US" sz="2400" b="1" dirty="0" err="1">
                <a:solidFill>
                  <a:srgbClr val="0C7D2C"/>
                </a:solidFill>
                <a:latin typeface="Aptos" panose="020B0004020202020204" pitchFamily="34" charset="0"/>
              </a:rPr>
              <a:t>upport</a:t>
            </a:r>
            <a:r>
              <a:rPr lang="en-US" sz="2400" b="1" dirty="0">
                <a:solidFill>
                  <a:srgbClr val="0C7D2C"/>
                </a:solidFill>
                <a:latin typeface="Aptos" panose="020B0004020202020204" pitchFamily="34" charset="0"/>
              </a:rPr>
              <a:t> decisions -</a:t>
            </a:r>
          </a:p>
          <a:p>
            <a:pPr algn="ctr"/>
            <a:r>
              <a:rPr lang="en-US" sz="2400" b="1" dirty="0">
                <a:solidFill>
                  <a:srgbClr val="0C7D2C"/>
                </a:solidFill>
                <a:latin typeface="Aptos" panose="020B0004020202020204" pitchFamily="34" charset="0"/>
              </a:rPr>
              <a:t> not replace them</a:t>
            </a:r>
          </a:p>
        </p:txBody>
      </p:sp>
      <p:sp>
        <p:nvSpPr>
          <p:cNvPr id="27" name="Rounded Rectangle 5">
            <a:extLst>
              <a:ext uri="{FF2B5EF4-FFF2-40B4-BE49-F238E27FC236}">
                <a16:creationId xmlns:a16="http://schemas.microsoft.com/office/drawing/2014/main" id="{0FFB2AAF-3E04-86E9-A793-9AFAC53E51F3}"/>
              </a:ext>
            </a:extLst>
          </p:cNvPr>
          <p:cNvSpPr/>
          <p:nvPr/>
        </p:nvSpPr>
        <p:spPr>
          <a:xfrm>
            <a:off x="5001710" y="2267058"/>
            <a:ext cx="1987200" cy="1047750"/>
          </a:xfrm>
          <a:prstGeom prst="roundRect">
            <a:avLst/>
          </a:prstGeom>
          <a:solidFill>
            <a:srgbClr val="FFFFFF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rgbClr val="0C7D2C"/>
                </a:solidFill>
                <a:latin typeface="Aptos" panose="020B0004020202020204" pitchFamily="34" charset="0"/>
              </a:rPr>
              <a:t>A</a:t>
            </a:r>
            <a:r>
              <a:rPr lang="en-US" dirty="0" err="1">
                <a:solidFill>
                  <a:srgbClr val="0C7D2C"/>
                </a:solidFill>
                <a:latin typeface="Aptos" panose="020B0004020202020204" pitchFamily="34" charset="0"/>
              </a:rPr>
              <a:t>irline</a:t>
            </a:r>
            <a:r>
              <a:rPr lang="en-US" dirty="0">
                <a:solidFill>
                  <a:srgbClr val="0C7D2C"/>
                </a:solidFill>
                <a:latin typeface="Aptos" panose="020B0004020202020204" pitchFamily="34" charset="0"/>
              </a:rPr>
              <a:t>, airport and route comparison </a:t>
            </a:r>
            <a:endParaRPr lang="de-DE" dirty="0">
              <a:solidFill>
                <a:srgbClr val="0C7D2C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BA5B6-B06B-B72A-05E4-19E157D04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65230-2794-287F-E9AF-19CB6166C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/>
          <a:lstStyle/>
          <a:p>
            <a:pPr algn="l"/>
            <a:r>
              <a:rPr sz="2700" b="1" dirty="0">
                <a:solidFill>
                  <a:srgbClr val="005020"/>
                </a:solidFill>
                <a:latin typeface="Aptos"/>
              </a:rPr>
              <a:t>OUTLOOK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4B62A17-02C9-6DE5-BA4C-D9665DC0F6E6}"/>
              </a:ext>
            </a:extLst>
          </p:cNvPr>
          <p:cNvSpPr/>
          <p:nvPr/>
        </p:nvSpPr>
        <p:spPr>
          <a:xfrm>
            <a:off x="792479" y="1600200"/>
            <a:ext cx="10795993" cy="3063240"/>
          </a:xfrm>
          <a:prstGeom prst="roundRect">
            <a:avLst/>
          </a:prstGeom>
          <a:solidFill>
            <a:srgbClr val="219149"/>
          </a:solidFill>
          <a:ln>
            <a:solidFill>
              <a:srgbClr val="D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EBDD22-9B1B-F3BD-8E0F-CBC375AF86DE}"/>
              </a:ext>
            </a:extLst>
          </p:cNvPr>
          <p:cNvSpPr txBox="1"/>
          <p:nvPr/>
        </p:nvSpPr>
        <p:spPr>
          <a:xfrm>
            <a:off x="1066800" y="1901952"/>
            <a:ext cx="20116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DFF5E4"/>
                </a:solidFill>
                <a:latin typeface="Aptos"/>
              </a:rPr>
              <a:t>NEXT EVOLUTION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A9E6BB-FA0C-6BD5-8EAC-CB9E4C8875B3}"/>
              </a:ext>
            </a:extLst>
          </p:cNvPr>
          <p:cNvSpPr txBox="1"/>
          <p:nvPr/>
        </p:nvSpPr>
        <p:spPr>
          <a:xfrm>
            <a:off x="4076700" y="3650581"/>
            <a:ext cx="4048125" cy="400110"/>
          </a:xfrm>
          <a:prstGeom prst="rect">
            <a:avLst/>
          </a:prstGeom>
          <a:noFill/>
        </p:spPr>
        <p:txBody>
          <a:bodyPr wrap="square" anchor="ctr" anchorCtr="0">
            <a:spAutoFit/>
          </a:bodyPr>
          <a:lstStyle/>
          <a:p>
            <a:r>
              <a:rPr sz="1700" b="1" dirty="0">
                <a:solidFill>
                  <a:srgbClr val="FFFFFF"/>
                </a:solidFill>
                <a:latin typeface="Aptos"/>
              </a:rPr>
              <a:t>Descriptive → </a:t>
            </a:r>
            <a:r>
              <a:rPr sz="2000" b="1" dirty="0">
                <a:solidFill>
                  <a:srgbClr val="FFFFFF"/>
                </a:solidFill>
                <a:latin typeface="Aptos"/>
              </a:rPr>
              <a:t>Diagnostic</a:t>
            </a:r>
            <a:r>
              <a:rPr sz="1700" b="1" dirty="0">
                <a:solidFill>
                  <a:srgbClr val="FFFFFF"/>
                </a:solidFill>
                <a:latin typeface="Aptos"/>
              </a:rPr>
              <a:t> → Predictive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D79951-7496-BA52-AC65-6836CD8F0D5A}"/>
              </a:ext>
            </a:extLst>
          </p:cNvPr>
          <p:cNvSpPr txBox="1"/>
          <p:nvPr/>
        </p:nvSpPr>
        <p:spPr>
          <a:xfrm>
            <a:off x="3028950" y="2331720"/>
            <a:ext cx="2505075" cy="96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W</a:t>
            </a:r>
            <a:r>
              <a:rPr dirty="0"/>
              <a:t>hy did delays happen?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endParaRPr lang="de-DE" dirty="0"/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M</a:t>
            </a:r>
            <a:r>
              <a:rPr dirty="0" err="1"/>
              <a:t>onitoring</a:t>
            </a:r>
            <a:r>
              <a:rPr dirty="0"/>
              <a:t> and alerting</a:t>
            </a:r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3A1B939F-BBBB-33E0-8F9E-C3B5F32FEA95}"/>
              </a:ext>
            </a:extLst>
          </p:cNvPr>
          <p:cNvSpPr txBox="1"/>
          <p:nvPr/>
        </p:nvSpPr>
        <p:spPr>
          <a:xfrm>
            <a:off x="354416" y="4966335"/>
            <a:ext cx="11234057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u="sng" dirty="0">
                <a:solidFill>
                  <a:srgbClr val="005020"/>
                </a:solidFill>
                <a:latin typeface="Aptos"/>
              </a:rPr>
              <a:t>Reliable decisions require reliable data</a:t>
            </a:r>
            <a:r>
              <a:rPr lang="de-DE" sz="4000" b="1" u="sng" dirty="0">
                <a:solidFill>
                  <a:srgbClr val="005020"/>
                </a:solidFill>
                <a:latin typeface="Aptos"/>
              </a:rPr>
              <a:t>!</a:t>
            </a:r>
            <a:endParaRPr sz="4000" b="1" u="sng" dirty="0">
              <a:solidFill>
                <a:srgbClr val="005020"/>
              </a:solidFill>
              <a:latin typeface="Aptos"/>
            </a:endParaRPr>
          </a:p>
        </p:txBody>
      </p:sp>
      <p:sp>
        <p:nvSpPr>
          <p:cNvPr id="31" name="TextBox 11">
            <a:extLst>
              <a:ext uri="{FF2B5EF4-FFF2-40B4-BE49-F238E27FC236}">
                <a16:creationId xmlns:a16="http://schemas.microsoft.com/office/drawing/2014/main" id="{12A87F5B-AF60-BEFC-15B4-9CA31A9BE2C8}"/>
              </a:ext>
            </a:extLst>
          </p:cNvPr>
          <p:cNvSpPr txBox="1"/>
          <p:nvPr/>
        </p:nvSpPr>
        <p:spPr>
          <a:xfrm>
            <a:off x="6515100" y="2331720"/>
            <a:ext cx="3886200" cy="96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C</a:t>
            </a:r>
            <a:r>
              <a:rPr dirty="0"/>
              <a:t>loud deployment / managed storage</a:t>
            </a:r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endParaRPr lang="de-DE" dirty="0"/>
          </a:p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lang="de-DE" dirty="0"/>
              <a:t>D</a:t>
            </a:r>
            <a:r>
              <a:rPr dirty="0" err="1"/>
              <a:t>elay</a:t>
            </a:r>
            <a:r>
              <a:rPr dirty="0"/>
              <a:t> and cancellation risk prediction</a:t>
            </a:r>
          </a:p>
        </p:txBody>
      </p:sp>
    </p:spTree>
    <p:extLst>
      <p:ext uri="{BB962C8B-B14F-4D97-AF65-F5344CB8AC3E}">
        <p14:creationId xmlns:p14="http://schemas.microsoft.com/office/powerpoint/2010/main" val="2813608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theme/theme1.xml><?xml version="1.0" encoding="utf-8"?>
<a:theme xmlns:a="http://schemas.openxmlformats.org/drawingml/2006/main" name="1_Standarddesign">
  <a:themeElements>
    <a:clrScheme name="1_Standarddesign 4">
      <a:dk1>
        <a:srgbClr val="000000"/>
      </a:dk1>
      <a:lt1>
        <a:srgbClr val="FFFFFF"/>
      </a:lt1>
      <a:dk2>
        <a:srgbClr val="000000"/>
      </a:dk2>
      <a:lt2>
        <a:srgbClr val="333333"/>
      </a:lt2>
      <a:accent1>
        <a:srgbClr val="DDDDDD"/>
      </a:accent1>
      <a:accent2>
        <a:srgbClr val="808080"/>
      </a:accent2>
      <a:accent3>
        <a:srgbClr val="FFFFFF"/>
      </a:accent3>
      <a:accent4>
        <a:srgbClr val="000000"/>
      </a:accent4>
      <a:accent5>
        <a:srgbClr val="EBEBEB"/>
      </a:accent5>
      <a:accent6>
        <a:srgbClr val="737373"/>
      </a:accent6>
      <a:hlink>
        <a:srgbClr val="4D4D4D"/>
      </a:hlink>
      <a:folHlink>
        <a:srgbClr val="EAEAEA"/>
      </a:folHlink>
    </a:clrScheme>
    <a:fontScheme name="1_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Char char="•"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Char char="•"/>
          <a:tabLst/>
          <a:defRPr kumimoji="0" lang="de-DE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andard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1_Standarddesign 4">
    <a:dk1>
      <a:srgbClr val="000000"/>
    </a:dk1>
    <a:lt1>
      <a:srgbClr val="FFFFFF"/>
    </a:lt1>
    <a:dk2>
      <a:srgbClr val="000000"/>
    </a:dk2>
    <a:lt2>
      <a:srgbClr val="333333"/>
    </a:lt2>
    <a:accent1>
      <a:srgbClr val="DDDDDD"/>
    </a:accent1>
    <a:accent2>
      <a:srgbClr val="808080"/>
    </a:accent2>
    <a:accent3>
      <a:srgbClr val="FFFFFF"/>
    </a:accent3>
    <a:accent4>
      <a:srgbClr val="000000"/>
    </a:accent4>
    <a:accent5>
      <a:srgbClr val="EBEBEB"/>
    </a:accent5>
    <a:accent6>
      <a:srgbClr val="737373"/>
    </a:accent6>
    <a:hlink>
      <a:srgbClr val="4D4D4D"/>
    </a:hlink>
    <a:folHlink>
      <a:srgbClr val="EAEAEA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aa5a65c-f4ce-4ee4-acf7-5e3b2ace5bfd">
      <Terms xmlns="http://schemas.microsoft.com/office/infopath/2007/PartnerControls"/>
    </lcf76f155ced4ddcb4097134ff3c332f>
    <TaxCatchAll xmlns="66bb7404-1a7c-4cd5-b899-503b4f4a783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D9D0312D38F94DA02BEC0C7012E0F5" ma:contentTypeVersion="11" ma:contentTypeDescription="Create a new document." ma:contentTypeScope="" ma:versionID="9a73361d995b0bed58ef5b3962fcd148">
  <xsd:schema xmlns:xsd="http://www.w3.org/2001/XMLSchema" xmlns:xs="http://www.w3.org/2001/XMLSchema" xmlns:p="http://schemas.microsoft.com/office/2006/metadata/properties" xmlns:ns2="9aa5a65c-f4ce-4ee4-acf7-5e3b2ace5bfd" xmlns:ns3="66bb7404-1a7c-4cd5-b899-503b4f4a7830" targetNamespace="http://schemas.microsoft.com/office/2006/metadata/properties" ma:root="true" ma:fieldsID="a85bbe206d45265116e8c51ee0380a62" ns2:_="" ns3:_="">
    <xsd:import namespace="9aa5a65c-f4ce-4ee4-acf7-5e3b2ace5bfd"/>
    <xsd:import namespace="66bb7404-1a7c-4cd5-b899-503b4f4a78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a5a65c-f4ce-4ee4-acf7-5e3b2ace5b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7477ac3-f545-472d-8d20-30ed4bfec3a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b7404-1a7c-4cd5-b899-503b4f4a7830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60eb3ab-e356-4c36-b4b3-0b6a41deb75f}" ma:internalName="TaxCatchAll" ma:showField="CatchAllData" ma:web="66bb7404-1a7c-4cd5-b899-503b4f4a783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0B8EBE4-FC2B-439D-83E4-1FC00013EB90}">
  <ds:schemaRefs>
    <ds:schemaRef ds:uri="http://schemas.microsoft.com/office/2006/metadata/properties"/>
    <ds:schemaRef ds:uri="http://schemas.microsoft.com/office/infopath/2007/PartnerControls"/>
    <ds:schemaRef ds:uri="9aa5a65c-f4ce-4ee4-acf7-5e3b2ace5bfd"/>
    <ds:schemaRef ds:uri="66bb7404-1a7c-4cd5-b899-503b4f4a7830"/>
  </ds:schemaRefs>
</ds:datastoreItem>
</file>

<file path=customXml/itemProps2.xml><?xml version="1.0" encoding="utf-8"?>
<ds:datastoreItem xmlns:ds="http://schemas.openxmlformats.org/officeDocument/2006/customXml" ds:itemID="{D9BC1E96-25F1-44B9-8174-507263BA1D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a5a65c-f4ce-4ee4-acf7-5e3b2ace5bfd"/>
    <ds:schemaRef ds:uri="66bb7404-1a7c-4cd5-b899-503b4f4a78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0732050-07CB-4EA1-8B62-F2C4125C0D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889</Words>
  <Application>Microsoft Office PowerPoint</Application>
  <PresentationFormat>Breitbild</PresentationFormat>
  <Paragraphs>186</Paragraphs>
  <Slides>17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5" baseType="lpstr">
      <vt:lpstr>Aptos</vt:lpstr>
      <vt:lpstr>Arial</vt:lpstr>
      <vt:lpstr>Helvetica</vt:lpstr>
      <vt:lpstr>Helvetica-Bold</vt:lpstr>
      <vt:lpstr>Lato</vt:lpstr>
      <vt:lpstr>Symbol</vt:lpstr>
      <vt:lpstr>Tahoma</vt:lpstr>
      <vt:lpstr>1_Standarddesign</vt:lpstr>
      <vt:lpstr>AIRLINE RELIABILITY DATA PIPELINE</vt:lpstr>
      <vt:lpstr>ABOUT ME &amp; PRESENTATION FOCUS</vt:lpstr>
      <vt:lpstr>MOTIVATION &amp; GOALS</vt:lpstr>
      <vt:lpstr>STAKEHOLDER PERSPECTIVE - CORPORATE TRAVEL</vt:lpstr>
      <vt:lpstr>DATA SOURCE &amp; DATA PROBLEM</vt:lpstr>
      <vt:lpstr>ENGINEERING QUESTION &amp; ARCHITECTURE</vt:lpstr>
      <vt:lpstr>INGESTION &amp; BRONZE - PRESERVE THE SOURCE</vt:lpstr>
      <vt:lpstr>SILVER &amp; DATA QUALITY - CREATE TRUST</vt:lpstr>
      <vt:lpstr>DATA MODEL &amp; GOLD MARTS</vt:lpstr>
      <vt:lpstr>AIRFLOW - FROM SCRIPTS TO PIPELINE</vt:lpstr>
      <vt:lpstr>AUTOMATED TESTING – WHEN &amp; WHY</vt:lpstr>
      <vt:lpstr>CONSUMPTION LAYER - RELIABILITY DASHBOARD</vt:lpstr>
      <vt:lpstr>PowerPoint-Präsentation</vt:lpstr>
      <vt:lpstr>PowerPoint-Präsentation</vt:lpstr>
      <vt:lpstr>PowerPoint-Präsentation</vt:lpstr>
      <vt:lpstr>RESULTS &amp; RECOMMENDATION</vt:lpstr>
      <vt:lpstr>OUTLOOK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Julia Nadolny</dc:creator>
  <cp:lastModifiedBy>Peter Blechert</cp:lastModifiedBy>
  <cp:revision>20</cp:revision>
  <dcterms:created xsi:type="dcterms:W3CDTF">2024-02-05T11:33:07Z</dcterms:created>
  <dcterms:modified xsi:type="dcterms:W3CDTF">2026-09-03T14:37:57Z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0x0101006CD9D0312D38F94DA02BEC0C7012E0F5</vt:lpwstr>
  </property>
</Properties>
</file>