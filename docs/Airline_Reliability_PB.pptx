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6" r:id="rId5"/>
    <p:sldId id="257" r:id="rId6"/>
    <p:sldId id="258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9" r:id="rId15"/>
    <p:sldId id="267" r:id="rId16"/>
    <p:sldId id="273" r:id="rId17"/>
    <p:sldId id="276" r:id="rId18"/>
    <p:sldId id="275" r:id="rId19"/>
    <p:sldId id="268" r:id="rId20"/>
    <p:sldId id="271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7D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C70D82-C5C0-44CA-8A9A-050937EBC620}" v="2" dt="2026-09-02T06:29:53.0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6311"/>
  </p:normalViewPr>
  <p:slideViewPr>
    <p:cSldViewPr snapToGrid="0">
      <p:cViewPr varScale="1">
        <p:scale>
          <a:sx n="113" d="100"/>
          <a:sy n="113" d="100"/>
        </p:scale>
        <p:origin x="396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9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lechert" userId="d1f4340c484e6b4d" providerId="LiveId" clId="{C61B02FD-3862-4431-89D2-8A4641263688}"/>
    <pc:docChg chg="undo custSel modSld">
      <pc:chgData name="Peter Blechert" userId="d1f4340c484e6b4d" providerId="LiveId" clId="{C61B02FD-3862-4431-89D2-8A4641263688}" dt="2026-09-02T06:36:35.972" v="141" actId="1036"/>
      <pc:docMkLst>
        <pc:docMk/>
      </pc:docMkLst>
      <pc:sldChg chg="modSp mod">
        <pc:chgData name="Peter Blechert" userId="d1f4340c484e6b4d" providerId="LiveId" clId="{C61B02FD-3862-4431-89D2-8A4641263688}" dt="2026-09-02T06:13:44.222" v="1" actId="20577"/>
        <pc:sldMkLst>
          <pc:docMk/>
          <pc:sldMk cId="0" sldId="257"/>
        </pc:sldMkLst>
        <pc:spChg chg="mod">
          <ac:chgData name="Peter Blechert" userId="d1f4340c484e6b4d" providerId="LiveId" clId="{C61B02FD-3862-4431-89D2-8A4641263688}" dt="2026-09-02T06:13:44.222" v="1" actId="20577"/>
          <ac:spMkLst>
            <pc:docMk/>
            <pc:sldMk cId="0" sldId="257"/>
            <ac:spMk id="7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3:56.907" v="94" actId="1035"/>
        <pc:sldMkLst>
          <pc:docMk/>
          <pc:sldMk cId="0" sldId="259"/>
        </pc:sldMkLst>
        <pc:spChg chg="mod">
          <ac:chgData name="Peter Blechert" userId="d1f4340c484e6b4d" providerId="LiveId" clId="{C61B02FD-3862-4431-89D2-8A4641263688}" dt="2026-09-02T06:33:56.907" v="94" actId="1035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4:24.093" v="96" actId="113"/>
        <pc:sldMkLst>
          <pc:docMk/>
          <pc:sldMk cId="0" sldId="260"/>
        </pc:sldMkLst>
        <pc:spChg chg="mod">
          <ac:chgData name="Peter Blechert" userId="d1f4340c484e6b4d" providerId="LiveId" clId="{C61B02FD-3862-4431-89D2-8A4641263688}" dt="2026-09-02T06:34:24.093" v="96" actId="113"/>
          <ac:spMkLst>
            <pc:docMk/>
            <pc:sldMk cId="0" sldId="260"/>
            <ac:spMk id="5" creationId="{00000000-0000-0000-0000-000000000000}"/>
          </ac:spMkLst>
        </pc:spChg>
      </pc:sldChg>
      <pc:sldChg chg="addSp delSp modSp mod">
        <pc:chgData name="Peter Blechert" userId="d1f4340c484e6b4d" providerId="LiveId" clId="{C61B02FD-3862-4431-89D2-8A4641263688}" dt="2026-09-02T06:28:44.215" v="48" actId="113"/>
        <pc:sldMkLst>
          <pc:docMk/>
          <pc:sldMk cId="0" sldId="262"/>
        </pc:sldMkLst>
        <pc:spChg chg="del">
          <ac:chgData name="Peter Blechert" userId="d1f4340c484e6b4d" providerId="LiveId" clId="{C61B02FD-3862-4431-89D2-8A4641263688}" dt="2026-09-02T06:28:06.584" v="44" actId="478"/>
          <ac:spMkLst>
            <pc:docMk/>
            <pc:sldMk cId="0" sldId="262"/>
            <ac:spMk id="12" creationId="{00000000-0000-0000-0000-000000000000}"/>
          </ac:spMkLst>
        </pc:spChg>
        <pc:spChg chg="add mod">
          <ac:chgData name="Peter Blechert" userId="d1f4340c484e6b4d" providerId="LiveId" clId="{C61B02FD-3862-4431-89D2-8A4641263688}" dt="2026-09-02T06:28:44.215" v="48" actId="113"/>
          <ac:spMkLst>
            <pc:docMk/>
            <pc:sldMk cId="0" sldId="262"/>
            <ac:spMk id="13" creationId="{78772B43-FDA6-02DD-C2CA-31F6F3942D82}"/>
          </ac:spMkLst>
        </pc:spChg>
      </pc:sldChg>
      <pc:sldChg chg="modSp mod">
        <pc:chgData name="Peter Blechert" userId="d1f4340c484e6b4d" providerId="LiveId" clId="{C61B02FD-3862-4431-89D2-8A4641263688}" dt="2026-09-02T06:35:00.720" v="104" actId="1036"/>
        <pc:sldMkLst>
          <pc:docMk/>
          <pc:sldMk cId="0" sldId="263"/>
        </pc:sldMkLst>
        <pc:spChg chg="mod">
          <ac:chgData name="Peter Blechert" userId="d1f4340c484e6b4d" providerId="LiveId" clId="{C61B02FD-3862-4431-89D2-8A4641263688}" dt="2026-09-02T06:35:00.720" v="104" actId="1036"/>
          <ac:spMkLst>
            <pc:docMk/>
            <pc:sldMk cId="0" sldId="263"/>
            <ac:spMk id="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1:12.137" v="53" actId="255"/>
        <pc:sldMkLst>
          <pc:docMk/>
          <pc:sldMk cId="0" sldId="264"/>
        </pc:sldMkLst>
        <pc:spChg chg="mod">
          <ac:chgData name="Peter Blechert" userId="d1f4340c484e6b4d" providerId="LiveId" clId="{C61B02FD-3862-4431-89D2-8A4641263688}" dt="2026-09-02T06:31:12.137" v="53" actId="255"/>
          <ac:spMkLst>
            <pc:docMk/>
            <pc:sldMk cId="0" sldId="264"/>
            <ac:spMk id="2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5:32.701" v="108" actId="1036"/>
        <pc:sldMkLst>
          <pc:docMk/>
          <pc:sldMk cId="0" sldId="265"/>
        </pc:sldMkLst>
        <pc:spChg chg="mod">
          <ac:chgData name="Peter Blechert" userId="d1f4340c484e6b4d" providerId="LiveId" clId="{C61B02FD-3862-4431-89D2-8A4641263688}" dt="2026-09-02T06:35:32.701" v="108" actId="1036"/>
          <ac:spMkLst>
            <pc:docMk/>
            <pc:sldMk cId="0" sldId="265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0:18.689" v="52" actId="113"/>
          <ac:spMkLst>
            <pc:docMk/>
            <pc:sldMk cId="0" sldId="265"/>
            <ac:spMk id="23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6:07.125" v="126" actId="1036"/>
        <pc:sldMkLst>
          <pc:docMk/>
          <pc:sldMk cId="0" sldId="266"/>
        </pc:sldMkLst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7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8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28.015" v="55" actId="113"/>
          <ac:spMkLst>
            <pc:docMk/>
            <pc:sldMk cId="0" sldId="266"/>
            <ac:spMk id="11" creationId="{00000000-0000-0000-0000-000000000000}"/>
          </ac:spMkLst>
        </pc:spChg>
        <pc:picChg chg="mod">
          <ac:chgData name="Peter Blechert" userId="d1f4340c484e6b4d" providerId="LiveId" clId="{C61B02FD-3862-4431-89D2-8A4641263688}" dt="2026-09-02T06:36:07.125" v="126" actId="1036"/>
          <ac:picMkLst>
            <pc:docMk/>
            <pc:sldMk cId="0" sldId="266"/>
            <ac:picMk id="6" creationId="{00000000-0000-0000-0000-000000000000}"/>
          </ac:picMkLst>
        </pc:picChg>
      </pc:sldChg>
      <pc:sldChg chg="modSp mod">
        <pc:chgData name="Peter Blechert" userId="d1f4340c484e6b4d" providerId="LiveId" clId="{C61B02FD-3862-4431-89D2-8A4641263688}" dt="2026-09-02T06:36:35.972" v="141" actId="1036"/>
        <pc:sldMkLst>
          <pc:docMk/>
          <pc:sldMk cId="0" sldId="267"/>
        </pc:sldMkLst>
        <pc:spChg chg="mod">
          <ac:chgData name="Peter Blechert" userId="d1f4340c484e6b4d" providerId="LiveId" clId="{C61B02FD-3862-4431-89D2-8A4641263688}" dt="2026-09-02T06:36:35.972" v="141" actId="1036"/>
          <ac:spMkLst>
            <pc:docMk/>
            <pc:sldMk cId="0" sldId="267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37.031" v="57" actId="113"/>
          <ac:spMkLst>
            <pc:docMk/>
            <pc:sldMk cId="0" sldId="267"/>
            <ac:spMk id="17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D1B1D2-63FC-4CD3-E539-ACF1F404BB7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A9716E-3564-3E88-D126-25C894C4CA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F752A9-003E-4083-9847-72AB3F27C035}" type="datetimeFigureOut">
              <a:rPr lang="de-DE" smtClean="0"/>
              <a:t>03.09.2026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C78FA7-4ED0-102A-627D-E9FE3381B0C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C926AD6-72F8-2034-146F-D82CC4869E3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A65C52-4DFC-4F14-A37C-948ACAE5FB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092944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AC1BD-E3F7-4C50-97FB-293B748B6C7F}" type="datetimeFigureOut">
              <a:rPr lang="de-DE" smtClean="0"/>
              <a:t>03.09.2026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6D4113-1DEC-41A9-89D0-906BFF289B6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902791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58BB7E62-6957-DF19-5386-11DB9E539C94}"/>
              </a:ext>
            </a:extLst>
          </p:cNvPr>
          <p:cNvSpPr/>
          <p:nvPr userDrawn="1"/>
        </p:nvSpPr>
        <p:spPr bwMode="auto">
          <a:xfrm>
            <a:off x="1" y="0"/>
            <a:ext cx="12192000" cy="6308608"/>
          </a:xfrm>
          <a:prstGeom prst="rect">
            <a:avLst/>
          </a:prstGeom>
          <a:solidFill>
            <a:srgbClr val="0C7D2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de-D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3" name="Grafik 12" descr="Ein Bild, das Grün, Schrift, Grafiken, Screenshot enthält.&#10;&#10;Automatisch generierte Beschreibung">
            <a:extLst>
              <a:ext uri="{FF2B5EF4-FFF2-40B4-BE49-F238E27FC236}">
                <a16:creationId xmlns:a16="http://schemas.microsoft.com/office/drawing/2014/main" id="{9DD99FEB-A992-9E44-EF64-2829B67AF5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5703" b="36641"/>
          <a:stretch/>
        </p:blipFill>
        <p:spPr>
          <a:xfrm>
            <a:off x="9747739" y="190265"/>
            <a:ext cx="2287098" cy="63252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7A1D6AB-AD74-41A1-EF93-47EF50602521}"/>
              </a:ext>
            </a:extLst>
          </p:cNvPr>
          <p:cNvSpPr txBox="1"/>
          <p:nvPr userDrawn="1"/>
        </p:nvSpPr>
        <p:spPr>
          <a:xfrm>
            <a:off x="11743267" y="65193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426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34951"/>
            <a:ext cx="11522075" cy="11430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9096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67900" y="1556792"/>
            <a:ext cx="5656092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6312024" y="1558064"/>
            <a:ext cx="5545014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54416" y="280068"/>
            <a:ext cx="11502621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de-DE" altLang="de-DE" dirty="0"/>
              <a:t>Click </a:t>
            </a:r>
            <a:r>
              <a:rPr lang="de-DE" altLang="de-DE" dirty="0" err="1"/>
              <a:t>to</a:t>
            </a:r>
            <a:r>
              <a:rPr lang="de-DE" altLang="de-DE" dirty="0"/>
              <a:t> </a:t>
            </a:r>
            <a:r>
              <a:rPr lang="de-DE" altLang="de-DE" dirty="0" err="1"/>
              <a:t>edit</a:t>
            </a:r>
            <a:r>
              <a:rPr lang="de-DE" altLang="de-DE" dirty="0"/>
              <a:t> </a:t>
            </a:r>
            <a:r>
              <a:rPr lang="de-DE" altLang="de-DE" dirty="0" err="1"/>
              <a:t>master</a:t>
            </a:r>
            <a:r>
              <a:rPr lang="de-DE" altLang="de-DE" dirty="0"/>
              <a:t> </a:t>
            </a:r>
            <a:r>
              <a:rPr lang="de-DE" altLang="de-DE" dirty="0" err="1"/>
              <a:t>titel</a:t>
            </a:r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0591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769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277813"/>
            <a:ext cx="11522075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das Titelformat zu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585913"/>
            <a:ext cx="11522075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die Formate des Vorlagentextes zu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30" name="Text Box 13"/>
          <p:cNvSpPr txBox="1">
            <a:spLocks noChangeArrowheads="1"/>
          </p:cNvSpPr>
          <p:nvPr userDrawn="1"/>
        </p:nvSpPr>
        <p:spPr bwMode="auto">
          <a:xfrm>
            <a:off x="0" y="6281738"/>
            <a:ext cx="12192000" cy="576262"/>
          </a:xfrm>
          <a:prstGeom prst="rect">
            <a:avLst/>
          </a:prstGeom>
          <a:solidFill>
            <a:srgbClr val="0C7D2C"/>
          </a:solidFill>
          <a:ln>
            <a:noFill/>
          </a:ln>
        </p:spPr>
        <p:txBody>
          <a:bodyPr tIns="370800" bIns="262800"/>
          <a:lstStyle>
            <a:lvl1pPr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de-DE" altLang="de-DE" b="1" u="sng">
              <a:latin typeface="Tahoma" panose="020B0604030504040204" pitchFamily="34" charset="0"/>
            </a:endParaRPr>
          </a:p>
        </p:txBody>
      </p:sp>
      <p:sp>
        <p:nvSpPr>
          <p:cNvPr id="12" name="Text Box 23"/>
          <p:cNvSpPr txBox="1">
            <a:spLocks noChangeArrowheads="1"/>
          </p:cNvSpPr>
          <p:nvPr userDrawn="1"/>
        </p:nvSpPr>
        <p:spPr bwMode="auto">
          <a:xfrm>
            <a:off x="0" y="6453188"/>
            <a:ext cx="11576114" cy="230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      </a:t>
            </a:r>
            <a:r>
              <a:rPr lang="en-GB" altLang="de-DE" sz="9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Greenbootcamps</a:t>
            </a: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GmbH</a:t>
            </a:r>
            <a:r>
              <a:rPr lang="en-GB" altLang="de-DE" sz="9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  <a:sym typeface="Symbol" panose="05050102010706020507" pitchFamily="18" charset="2"/>
              </a:rPr>
              <a:t>	   	        	                                                                                                     			</a:t>
            </a:r>
            <a:endParaRPr lang="de-DE" altLang="de-DE" sz="9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5" name="Grafik 4" descr="Ein Bild, das Grafiken, Schrift, Grafikdesign, Screenshot enthält.&#10;&#10;Automatisch generierte Beschreibung">
            <a:extLst>
              <a:ext uri="{FF2B5EF4-FFF2-40B4-BE49-F238E27FC236}">
                <a16:creationId xmlns:a16="http://schemas.microsoft.com/office/drawing/2014/main" id="{E5D63919-B2BF-A73B-B76D-665DF60AFFB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972675" y="0"/>
            <a:ext cx="2079626" cy="103981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9C410640-8FEC-A6CF-ABA3-1FB242BC48E4}"/>
              </a:ext>
            </a:extLst>
          </p:cNvPr>
          <p:cNvCxnSpPr/>
          <p:nvPr userDrawn="1"/>
        </p:nvCxnSpPr>
        <p:spPr bwMode="auto">
          <a:xfrm>
            <a:off x="0" y="1392238"/>
            <a:ext cx="1157288" cy="0"/>
          </a:xfrm>
          <a:prstGeom prst="line">
            <a:avLst/>
          </a:prstGeom>
          <a:noFill/>
          <a:ln w="95250" cap="flat" cmpd="sng" algn="ctr">
            <a:solidFill>
              <a:srgbClr val="0C7D2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" name="TextBox 4">
            <a:extLst>
              <a:ext uri="{FF2B5EF4-FFF2-40B4-BE49-F238E27FC236}">
                <a16:creationId xmlns:a16="http://schemas.microsoft.com/office/drawing/2014/main" id="{89EF6F4D-0D8F-4C52-63A4-73B3F2A71984}"/>
              </a:ext>
            </a:extLst>
          </p:cNvPr>
          <p:cNvSpPr txBox="1"/>
          <p:nvPr userDrawn="1"/>
        </p:nvSpPr>
        <p:spPr>
          <a:xfrm>
            <a:off x="11576114" y="6453188"/>
            <a:ext cx="615886" cy="215444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tr"/>
            <a:fld id="{26BEBEC2-555B-4F74-AE4A-AE9A68B5DD21}" type="slidenum">
              <a:rPr lang="de-DE" sz="800" b="1" smtClean="0">
                <a:solidFill>
                  <a:srgbClr val="DFF5E4"/>
                </a:solidFill>
                <a:latin typeface="Aptos"/>
              </a:rPr>
              <a:t>‹Nr.›</a:t>
            </a:fld>
            <a:r>
              <a:rPr lang="de-DE" sz="800" b="1" dirty="0">
                <a:solidFill>
                  <a:srgbClr val="DFF5E4"/>
                </a:solidFill>
                <a:latin typeface="Aptos"/>
              </a:rPr>
              <a:t>/17</a:t>
            </a:r>
            <a:endParaRPr sz="800" b="1" dirty="0">
              <a:solidFill>
                <a:srgbClr val="00502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76300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2">
              <a:lumMod val="7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Arial" panose="020B0604020202020204" pitchFamily="34" charset="0"/>
        <a:buChar char="•"/>
        <a:defRPr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–"/>
        <a:defRPr sz="16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•"/>
        <a:defRPr sz="14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Symbol" panose="05050102010706020507" pitchFamily="18" charset="2"/>
        <a:buChar char="-"/>
        <a:defRPr sz="12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»"/>
        <a:defRPr sz="10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ranstats.bts.gov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1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501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wrap="square" anchor="t"/>
          <a:lstStyle/>
          <a:p>
            <a:pPr algn="l"/>
            <a:r>
              <a:rPr sz="3300" b="1" dirty="0">
                <a:solidFill>
                  <a:srgbClr val="FFFFFF"/>
                </a:solidFill>
                <a:latin typeface="Aptos"/>
              </a:rPr>
              <a:t>AIRLINE RELIABILITY</a:t>
            </a:r>
          </a:p>
          <a:p>
            <a:pPr algn="l"/>
            <a:r>
              <a:rPr sz="3300" b="1" dirty="0">
                <a:solidFill>
                  <a:srgbClr val="FFFFFF"/>
                </a:solidFill>
                <a:latin typeface="Aptos"/>
              </a:rPr>
              <a:t>DATA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anchor="t"/>
          <a:lstStyle/>
          <a:p>
            <a:pPr algn="l"/>
            <a:r>
              <a:rPr sz="1700" b="0" dirty="0">
                <a:solidFill>
                  <a:srgbClr val="FFFFFF"/>
                </a:solidFill>
                <a:latin typeface="Aptos"/>
              </a:rPr>
              <a:t>From raw flight operations data to reliable airline, airport and route insights</a:t>
            </a:r>
          </a:p>
          <a:p>
            <a:pPr algn="l"/>
            <a:endParaRPr sz="1700" b="0" dirty="0">
              <a:solidFill>
                <a:srgbClr val="FFFFFF"/>
              </a:solidFill>
              <a:latin typeface="Aptos"/>
            </a:endParaRPr>
          </a:p>
          <a:p>
            <a:pPr algn="l"/>
            <a:r>
              <a:rPr sz="1700" b="0" dirty="0">
                <a:solidFill>
                  <a:srgbClr val="FFFFFF"/>
                </a:solidFill>
                <a:latin typeface="Aptos"/>
              </a:rPr>
              <a:t>Peter Blechert · Data Engineering · 04.09.2026</a:t>
            </a:r>
          </a:p>
        </p:txBody>
      </p:sp>
      <p:pic>
        <p:nvPicPr>
          <p:cNvPr id="4" name="Picture 3" descr="8479e4db-f994-4c5c-a620-b276cb807c98.jpg"/>
          <p:cNvPicPr>
            <a:picLocks noChangeAspect="1"/>
          </p:cNvPicPr>
          <p:nvPr/>
        </p:nvPicPr>
        <p:blipFill>
          <a:blip r:embed="rId2"/>
          <a:srcRect l="19853" r="19853"/>
          <a:stretch>
            <a:fillRect/>
          </a:stretch>
        </p:blipFill>
        <p:spPr>
          <a:xfrm>
            <a:off x="8102601" y="1250637"/>
            <a:ext cx="2252286" cy="2801626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62D02214-C38A-76CA-402F-451B70D92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2396" y="2923343"/>
            <a:ext cx="1128920" cy="1128920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60BD43E-4892-E168-9B86-A771195DCED6}"/>
              </a:ext>
            </a:extLst>
          </p:cNvPr>
          <p:cNvSpPr/>
          <p:nvPr/>
        </p:nvSpPr>
        <p:spPr bwMode="auto">
          <a:xfrm>
            <a:off x="11616611" y="6383707"/>
            <a:ext cx="461473" cy="307649"/>
          </a:xfrm>
          <a:prstGeom prst="rect">
            <a:avLst/>
          </a:prstGeom>
          <a:solidFill>
            <a:srgbClr val="0C7D2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de-D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ABOUT ME &amp; PRESENTATION FOCUS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72768"/>
            <a:ext cx="393192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1856231"/>
            <a:ext cx="2651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DFF5E4"/>
                </a:solidFill>
                <a:latin typeface="Aptos"/>
              </a:rPr>
              <a:t>PERSONAL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40280"/>
            <a:ext cx="324612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Data Engineering final project</a:t>
            </a:r>
            <a:endParaRPr lang="de-DE" dirty="0"/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  <a:defRPr sz="125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Focus: </a:t>
            </a:r>
            <a:r>
              <a:rPr lang="de-DE" dirty="0" err="1"/>
              <a:t>realistic</a:t>
            </a:r>
            <a:r>
              <a:rPr lang="de-DE" dirty="0"/>
              <a:t>,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pipeline</a:t>
            </a:r>
            <a:endParaRPr lang="de-DE" dirty="0"/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  <a:defRPr sz="125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25+ </a:t>
            </a:r>
            <a:r>
              <a:rPr lang="de-DE" dirty="0" err="1"/>
              <a:t>years</a:t>
            </a:r>
            <a:r>
              <a:rPr lang="de-DE" dirty="0"/>
              <a:t> of </a:t>
            </a:r>
            <a:r>
              <a:rPr lang="de-DE" dirty="0" err="1"/>
              <a:t>database</a:t>
            </a:r>
            <a:r>
              <a:rPr lang="de-DE" dirty="0"/>
              <a:t> </a:t>
            </a:r>
            <a:r>
              <a:rPr lang="de-DE" dirty="0" err="1"/>
              <a:t>experience</a:t>
            </a:r>
            <a:endParaRPr lang="de-DE" dirty="0"/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  <a:defRPr sz="125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Career </a:t>
            </a:r>
            <a:r>
              <a:rPr lang="de-DE" dirty="0" err="1"/>
              <a:t>direction</a:t>
            </a:r>
            <a:r>
              <a:rPr lang="de-DE" dirty="0"/>
              <a:t>: Data Engineering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  <a:defRPr sz="125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Degree: Dipl.-Kfm. (FH)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  <a:defRPr sz="1250">
                <a:solidFill>
                  <a:srgbClr val="FFFFFF"/>
                </a:solidFill>
                <a:latin typeface="Aptos"/>
              </a:defRPr>
            </a:pPr>
            <a:r>
              <a:rPr lang="de-DE" sz="1250" dirty="0" err="1">
                <a:solidFill>
                  <a:srgbClr val="FFFFFF"/>
                </a:solidFill>
                <a:latin typeface="Aptos"/>
              </a:rPr>
              <a:t>Preferred</a:t>
            </a:r>
            <a:r>
              <a:rPr lang="de-DE" sz="1250" dirty="0">
                <a:solidFill>
                  <a:srgbClr val="FFFFFF"/>
                </a:solidFill>
                <a:latin typeface="Aptos"/>
              </a:rPr>
              <a:t> </a:t>
            </a:r>
            <a:r>
              <a:rPr lang="de-DE" sz="1250" dirty="0" err="1">
                <a:solidFill>
                  <a:srgbClr val="FFFFFF"/>
                </a:solidFill>
                <a:latin typeface="Aptos"/>
              </a:rPr>
              <a:t>regions</a:t>
            </a:r>
            <a:r>
              <a:rPr lang="de-DE" sz="1250" dirty="0">
                <a:solidFill>
                  <a:srgbClr val="FFFFFF"/>
                </a:solidFill>
                <a:latin typeface="Aptos"/>
              </a:rPr>
              <a:t>: NRW / Hamburg / Schleswig-Holstein · Remote</a:t>
            </a:r>
            <a:endParaRPr dirty="0"/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Contact: peter.blechert@web.de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572768"/>
            <a:ext cx="544068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49240" y="1856231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PRESENTATION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267712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Aptos"/>
              </a:rPr>
              <a:t>How can monthly raw data become a reliable data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246120"/>
            <a:ext cx="475488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FFFFFF"/>
                </a:solidFill>
                <a:latin typeface="Aptos"/>
              </a:rPr>
              <a:t>The next 15 minutes show the problem, the engineering solution and the proof that it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MOTIVATION &amp;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39" y="1508760"/>
            <a:ext cx="6845609" cy="390144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89998"/>
            <a:ext cx="6060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dirty="0">
                <a:solidFill>
                  <a:srgbClr val="DFF5E4"/>
                </a:solidFill>
                <a:latin typeface="Aptos"/>
              </a:rPr>
              <a:t>Build a</a:t>
            </a:r>
            <a:r>
              <a:rPr lang="de-DE" sz="1400" b="1" dirty="0">
                <a:solidFill>
                  <a:srgbClr val="DFF5E4"/>
                </a:solidFill>
                <a:latin typeface="Aptos"/>
              </a:rPr>
              <a:t> </a:t>
            </a:r>
            <a:r>
              <a:rPr sz="1400" b="1" dirty="0">
                <a:solidFill>
                  <a:srgbClr val="DFF5E4"/>
                </a:solidFill>
                <a:latin typeface="Aptos"/>
              </a:rPr>
              <a:t>small but complete production-like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6000"/>
            <a:ext cx="388620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real external source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monthly ingestion and partitioning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Bronze / Silver / Gold layers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Quality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Database model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Orchestration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consumption through dashboard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C147E-87C4-A948-E131-050911DFE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4">
            <a:extLst>
              <a:ext uri="{FF2B5EF4-FFF2-40B4-BE49-F238E27FC236}">
                <a16:creationId xmlns:a16="http://schemas.microsoft.com/office/drawing/2014/main" id="{D62EDD4C-6874-AF48-686F-7ACDFCE463B7}"/>
              </a:ext>
            </a:extLst>
          </p:cNvPr>
          <p:cNvSpPr/>
          <p:nvPr/>
        </p:nvSpPr>
        <p:spPr>
          <a:xfrm>
            <a:off x="777239" y="1508760"/>
            <a:ext cx="6847200" cy="390240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6E872-D310-3626-029F-C603742A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lang="de-DE" sz="2700" dirty="0">
                <a:solidFill>
                  <a:srgbClr val="005020"/>
                </a:solidFill>
                <a:latin typeface="Aptos"/>
              </a:rPr>
              <a:t>STAKEHOLDER PERSPECTIVE - CORPORATE TRAVEL</a:t>
            </a:r>
            <a:endParaRPr sz="27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E15AE3-2D63-E342-721F-85505FAACDF9}"/>
              </a:ext>
            </a:extLst>
          </p:cNvPr>
          <p:cNvSpPr txBox="1"/>
          <p:nvPr/>
        </p:nvSpPr>
        <p:spPr>
          <a:xfrm>
            <a:off x="1041299" y="1990800"/>
            <a:ext cx="6162806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dirty="0">
                <a:solidFill>
                  <a:srgbClr val="DFF5E4"/>
                </a:solidFill>
                <a:latin typeface="Aptos"/>
              </a:rPr>
              <a:t>Get trusted, comparable reliability information</a:t>
            </a:r>
            <a:r>
              <a:rPr sz="1100" b="1" dirty="0">
                <a:solidFill>
                  <a:srgbClr val="DFF5E4"/>
                </a:solidFill>
                <a:latin typeface="Aptos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A5AADF-D4E5-D63E-4696-2F391B4C3F0F}"/>
              </a:ext>
            </a:extLst>
          </p:cNvPr>
          <p:cNvSpPr txBox="1"/>
          <p:nvPr/>
        </p:nvSpPr>
        <p:spPr>
          <a:xfrm>
            <a:off x="1041298" y="2374200"/>
            <a:ext cx="6369152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sz="2200" b="1" dirty="0">
                <a:solidFill>
                  <a:srgbClr val="FFFFFF"/>
                </a:solidFill>
                <a:latin typeface="Aptos"/>
              </a:rPr>
              <a:t>Which airlines are reliable?</a:t>
            </a:r>
            <a:r>
              <a:rPr lang="de-DE" sz="2200" b="1" dirty="0">
                <a:solidFill>
                  <a:srgbClr val="FFFFFF"/>
                </a:solidFill>
                <a:latin typeface="Aptos"/>
              </a:rPr>
              <a:t> </a:t>
            </a:r>
          </a:p>
          <a:p>
            <a:pPr lvl="1">
              <a:lnSpc>
                <a:spcPts val="1500"/>
              </a:lnSpc>
              <a:defRPr sz="1450">
                <a:solidFill>
                  <a:srgbClr val="FFFFFF"/>
                </a:solidFill>
                <a:latin typeface="Aptos"/>
              </a:defRPr>
            </a:pPr>
            <a:r>
              <a:rPr lang="de-DE" sz="1600" dirty="0">
                <a:solidFill>
                  <a:srgbClr val="FFFFFF"/>
                </a:solidFill>
                <a:latin typeface="Aptos"/>
              </a:rPr>
              <a:t>→</a:t>
            </a:r>
            <a:r>
              <a:rPr lang="de-DE"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lang="de-DE" sz="1600" dirty="0">
                <a:solidFill>
                  <a:srgbClr val="DFF5E4"/>
                </a:solidFill>
                <a:latin typeface="Aptos"/>
              </a:rPr>
              <a:t>Carrier </a:t>
            </a:r>
            <a:r>
              <a:rPr lang="de-DE" sz="1600" dirty="0" err="1">
                <a:solidFill>
                  <a:srgbClr val="DFF5E4"/>
                </a:solidFill>
                <a:latin typeface="Aptos"/>
              </a:rPr>
              <a:t>selection</a:t>
            </a:r>
            <a:r>
              <a:rPr lang="de-DE" sz="1600" dirty="0">
                <a:solidFill>
                  <a:srgbClr val="DFF5E4"/>
                </a:solidFill>
                <a:latin typeface="Aptos"/>
              </a:rPr>
              <a:t> / </a:t>
            </a:r>
            <a:r>
              <a:rPr lang="de-DE" sz="1600" dirty="0" err="1">
                <a:solidFill>
                  <a:srgbClr val="DFF5E4"/>
                </a:solidFill>
                <a:latin typeface="Aptos"/>
              </a:rPr>
              <a:t>benchmarking</a:t>
            </a:r>
            <a:endParaRPr lang="de-DE" sz="1600" dirty="0">
              <a:solidFill>
                <a:srgbClr val="DFF5E4"/>
              </a:solidFill>
              <a:latin typeface="Aptos"/>
            </a:endParaRPr>
          </a:p>
          <a:p>
            <a:pPr lvl="1">
              <a:defRPr sz="1450">
                <a:solidFill>
                  <a:srgbClr val="FFFFFF"/>
                </a:solidFill>
                <a:latin typeface="Aptos"/>
              </a:defRPr>
            </a:pPr>
            <a:endParaRPr lang="de-DE" sz="1600" dirty="0">
              <a:solidFill>
                <a:srgbClr val="DFF5E4"/>
              </a:solidFill>
              <a:latin typeface="Aptos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sz="2200" b="1" dirty="0">
                <a:solidFill>
                  <a:srgbClr val="FFFFFF"/>
                </a:solidFill>
                <a:latin typeface="Aptos"/>
              </a:rPr>
              <a:t>Which airports concentrate problems?</a:t>
            </a:r>
            <a:endParaRPr lang="de-DE" sz="2200" b="1" dirty="0">
              <a:solidFill>
                <a:srgbClr val="FFFFFF"/>
              </a:solidFill>
              <a:latin typeface="Aptos"/>
            </a:endParaRPr>
          </a:p>
          <a:p>
            <a:pPr lvl="1">
              <a:lnSpc>
                <a:spcPts val="1500"/>
              </a:lnSpc>
              <a:defRPr sz="1450">
                <a:solidFill>
                  <a:srgbClr val="FFFFFF"/>
                </a:solidFill>
                <a:latin typeface="Aptos"/>
              </a:defRPr>
            </a:pPr>
            <a:r>
              <a:rPr lang="de-DE" sz="1600" dirty="0">
                <a:solidFill>
                  <a:srgbClr val="FFFFFF"/>
                </a:solidFill>
                <a:latin typeface="Aptos"/>
              </a:rPr>
              <a:t>→</a:t>
            </a:r>
            <a:r>
              <a:rPr lang="de-DE"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lang="de-DE" sz="1600" dirty="0">
                <a:solidFill>
                  <a:srgbClr val="DFF5E4"/>
                </a:solidFill>
                <a:latin typeface="Aptos"/>
              </a:rPr>
              <a:t>Connection / </a:t>
            </a:r>
            <a:r>
              <a:rPr lang="de-DE" sz="1600" dirty="0" err="1">
                <a:solidFill>
                  <a:srgbClr val="DFF5E4"/>
                </a:solidFill>
                <a:latin typeface="Aptos"/>
              </a:rPr>
              <a:t>disruption</a:t>
            </a:r>
            <a:r>
              <a:rPr lang="de-DE" sz="1600" dirty="0">
                <a:solidFill>
                  <a:srgbClr val="DFF5E4"/>
                </a:solidFill>
                <a:latin typeface="Aptos"/>
              </a:rPr>
              <a:t> </a:t>
            </a:r>
            <a:r>
              <a:rPr lang="de-DE" sz="1600" dirty="0" err="1">
                <a:solidFill>
                  <a:srgbClr val="DFF5E4"/>
                </a:solidFill>
                <a:latin typeface="Aptos"/>
              </a:rPr>
              <a:t>risk</a:t>
            </a:r>
            <a:endParaRPr lang="de-DE" sz="1600" dirty="0">
              <a:solidFill>
                <a:srgbClr val="DFF5E4"/>
              </a:solidFill>
              <a:latin typeface="Aptos"/>
            </a:endParaRPr>
          </a:p>
          <a:p>
            <a:pPr lvl="1">
              <a:defRPr sz="1450">
                <a:solidFill>
                  <a:srgbClr val="FFFFFF"/>
                </a:solidFill>
                <a:latin typeface="Aptos"/>
              </a:defRPr>
            </a:pPr>
            <a:endParaRPr lang="de-DE" sz="1600" b="1" dirty="0">
              <a:solidFill>
                <a:srgbClr val="FFFFFF"/>
              </a:solidFill>
              <a:latin typeface="Aptos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sz="2200" b="1" dirty="0">
                <a:solidFill>
                  <a:srgbClr val="FFFFFF"/>
                </a:solidFill>
                <a:latin typeface="Aptos"/>
              </a:rPr>
              <a:t>Which routes are operationally robust?</a:t>
            </a:r>
            <a:r>
              <a:rPr lang="de-DE" sz="2200" b="1" dirty="0">
                <a:solidFill>
                  <a:srgbClr val="FFFFFF"/>
                </a:solidFill>
                <a:latin typeface="Aptos"/>
              </a:rPr>
              <a:t> </a:t>
            </a:r>
          </a:p>
          <a:p>
            <a:pPr lvl="1">
              <a:lnSpc>
                <a:spcPts val="1500"/>
              </a:lnSpc>
              <a:defRPr sz="1450">
                <a:solidFill>
                  <a:srgbClr val="FFFFFF"/>
                </a:solidFill>
                <a:latin typeface="Aptos"/>
              </a:defRPr>
            </a:pPr>
            <a:r>
              <a:rPr lang="de-DE" sz="1600" dirty="0">
                <a:solidFill>
                  <a:srgbClr val="FFFFFF"/>
                </a:solidFill>
                <a:latin typeface="Aptos"/>
              </a:rPr>
              <a:t>→</a:t>
            </a:r>
            <a:r>
              <a:rPr lang="de-DE" sz="1600" dirty="0">
                <a:solidFill>
                  <a:srgbClr val="DFF5E4"/>
                </a:solidFill>
                <a:latin typeface="Aptos"/>
              </a:rPr>
              <a:t> Route </a:t>
            </a:r>
            <a:r>
              <a:rPr lang="de-DE" sz="1600" dirty="0" err="1">
                <a:solidFill>
                  <a:srgbClr val="DFF5E4"/>
                </a:solidFill>
                <a:latin typeface="Aptos"/>
              </a:rPr>
              <a:t>selection</a:t>
            </a:r>
            <a:r>
              <a:rPr lang="de-DE" sz="1600" dirty="0">
                <a:solidFill>
                  <a:srgbClr val="DFF5E4"/>
                </a:solidFill>
                <a:latin typeface="Aptos"/>
              </a:rPr>
              <a:t> / </a:t>
            </a:r>
            <a:r>
              <a:rPr lang="de-DE" sz="1600" dirty="0" err="1">
                <a:solidFill>
                  <a:srgbClr val="DFF5E4"/>
                </a:solidFill>
                <a:latin typeface="Aptos"/>
              </a:rPr>
              <a:t>comparison</a:t>
            </a:r>
            <a:endParaRPr lang="de-DE" sz="1600" dirty="0">
              <a:solidFill>
                <a:srgbClr val="DFF5E4"/>
              </a:solidFill>
              <a:latin typeface="Aptos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endParaRPr sz="2200" b="1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38906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DATA SOURCE &amp; DATA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8755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58645B"/>
                </a:solidFill>
                <a:latin typeface="Aptos"/>
              </a:rPr>
              <a:t>Source: </a:t>
            </a:r>
            <a:r>
              <a:rPr lang="de-DE" sz="1500" b="1" dirty="0">
                <a:solidFill>
                  <a:srgbClr val="58645B"/>
                </a:solidFill>
                <a:latin typeface="Aptos"/>
              </a:rPr>
              <a:t>BTS - </a:t>
            </a:r>
            <a:r>
              <a:rPr sz="1500" b="1" dirty="0">
                <a:solidFill>
                  <a:srgbClr val="58645B"/>
                </a:solidFill>
                <a:latin typeface="Aptos"/>
              </a:rPr>
              <a:t>Bureau of Transportation Statistics (monthly On-Time Performance data)</a:t>
            </a:r>
          </a:p>
          <a:p>
            <a:r>
              <a:rPr sz="1000" dirty="0">
                <a:solidFill>
                  <a:srgbClr val="58645B"/>
                </a:solidFill>
                <a:latin typeface="Aptos"/>
                <a:hlinkClick r:id="rId2"/>
              </a:rPr>
              <a:t>https://www.transtats.bts.gov/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9785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190368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607,577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592705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flight records · June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089785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19856" y="2190368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592705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2089785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34455" y="2190368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351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4455" y="2592705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089785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49056" y="2190368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6,131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592705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routes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273551"/>
            <a:ext cx="4846320" cy="2167129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52958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WHAT THE SOURCE CONTAINS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22191"/>
            <a:ext cx="4160520" cy="1149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Flight date, airline, origin and destination airport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planned and actual times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delays, cancellations, diversions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delay causes and reference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3273551"/>
            <a:ext cx="4846320" cy="2167129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3529584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DFF5E4"/>
                </a:solidFill>
                <a:latin typeface="Aptos"/>
              </a:rPr>
              <a:t>WHAT IT DOESN'T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822191"/>
            <a:ext cx="4160520" cy="1436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quality boundary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standardized schema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analytical model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business-ready reliability metrics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280">
                <a:solidFill>
                  <a:srgbClr val="FFFFFF"/>
                </a:solidFill>
                <a:latin typeface="Aptos"/>
              </a:defRPr>
            </a:pPr>
            <a:r>
              <a:rPr dirty="0"/>
              <a:t>reproducible monthly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ENGINEERING QUESTION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264" y="1512570"/>
            <a:ext cx="10719435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How can monthly flight data be transformed into a reliable, reproducible analytics data product?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77440"/>
            <a:ext cx="1499617" cy="744491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dirty="0">
                <a:solidFill>
                  <a:srgbClr val="005020"/>
                </a:solidFill>
                <a:latin typeface="Aptos"/>
              </a:rPr>
              <a:t>BTS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dirty="0">
                <a:solidFill>
                  <a:srgbClr val="58645B"/>
                </a:solidFill>
                <a:latin typeface="Aptos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0008" y="2377440"/>
            <a:ext cx="1499617" cy="744491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0487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dirty="0">
                <a:solidFill>
                  <a:srgbClr val="005020"/>
                </a:solidFill>
                <a:latin typeface="Aptos"/>
              </a:rPr>
              <a:t>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preserve 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2377440"/>
            <a:ext cx="1499617" cy="744491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87951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1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3270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16168" y="2377440"/>
            <a:ext cx="1499617" cy="744491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71031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71031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database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99248" y="2377440"/>
            <a:ext cx="1499617" cy="744491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5411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82328" y="2377440"/>
            <a:ext cx="1499617" cy="744491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3719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dirty="0">
                <a:solidFill>
                  <a:srgbClr val="005020"/>
                </a:solidFill>
                <a:latin typeface="Aptos"/>
              </a:rPr>
              <a:t>STREAMLIT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dirty="0">
                <a:solidFill>
                  <a:srgbClr val="58645B"/>
                </a:solidFill>
                <a:latin typeface="Aptos"/>
              </a:rPr>
              <a:t>consume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3830955"/>
            <a:ext cx="896112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3963162"/>
            <a:ext cx="86400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Aptos"/>
              </a:rPr>
              <a:t>Python &amp; </a:t>
            </a:r>
            <a:r>
              <a:rPr lang="en-US" sz="1500" b="1" dirty="0" err="1">
                <a:solidFill>
                  <a:srgbClr val="FFFFFF"/>
                </a:solidFill>
                <a:latin typeface="Aptos"/>
              </a:rPr>
              <a:t>PySpark</a:t>
            </a:r>
            <a:r>
              <a:rPr lang="en-US" sz="1500" b="1" dirty="0">
                <a:solidFill>
                  <a:srgbClr val="FFFFFF"/>
                </a:solidFill>
                <a:latin typeface="Aptos"/>
              </a:rPr>
              <a:t> implement and process the data</a:t>
            </a:r>
          </a:p>
          <a:p>
            <a:pPr algn="ctr"/>
            <a:r>
              <a:rPr lang="en-US" sz="1500" b="1" dirty="0">
                <a:solidFill>
                  <a:srgbClr val="FFFFFF"/>
                </a:solidFill>
                <a:latin typeface="Aptos"/>
              </a:rPr>
              <a:t>Airflow orchestrates the process · Docker provides the reproducible runtime</a:t>
            </a:r>
            <a:endParaRPr sz="15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08760" y="4916805"/>
            <a:ext cx="864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architecture is not a tool list - each layer answers a concrete requirement.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 dirty="0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487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 dirty="0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7951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validated Parquet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71031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Facts &amp;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Reliability Marts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3719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Interactive Dashboard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0" grpId="0" animBg="1"/>
      <p:bldP spid="11" grpId="0"/>
      <p:bldP spid="12" grpId="0"/>
      <p:bldP spid="14" grpId="0" animBg="1"/>
      <p:bldP spid="15" grpId="0"/>
      <p:bldP spid="16" grpId="0"/>
      <p:bldP spid="18" grpId="0" animBg="1"/>
      <p:bldP spid="19" grpId="0"/>
      <p:bldP spid="20" grpId="0"/>
      <p:bldP spid="22" grpId="0" animBg="1"/>
      <p:bldP spid="23" grpId="0"/>
      <p:bldP spid="24" grpId="0"/>
      <p:bldP spid="26" grpId="0" animBg="1"/>
      <p:bldP spid="27" grpId="0"/>
      <p:bldP spid="28" grpId="0"/>
      <p:bldP spid="29" grpId="0" animBg="1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INGESTION &amp; BRONZE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PRESERVE THE SOURCE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4709160" cy="3846195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DFF5E4"/>
                </a:solidFill>
                <a:latin typeface="Aptos"/>
              </a:rPr>
              <a:t>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67712"/>
            <a:ext cx="3931920" cy="1682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monthly available ZIP / CSV files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reference files for airlines and airports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routes derived from flights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download only when missing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year/month partitioning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554480"/>
            <a:ext cx="4709160" cy="3846195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8932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DFF5E4"/>
                </a:solidFill>
                <a:latin typeface="Aptos"/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02736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Raw ZIP / CSV remains unchanged.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267712"/>
            <a:ext cx="45720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traceability to source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repeatable monthly loads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clean separation from transformation logic</a:t>
            </a:r>
          </a:p>
        </p:txBody>
      </p:sp>
      <p:sp>
        <p:nvSpPr>
          <p:cNvPr id="13" name="TextBox 30">
            <a:extLst>
              <a:ext uri="{FF2B5EF4-FFF2-40B4-BE49-F238E27FC236}">
                <a16:creationId xmlns:a16="http://schemas.microsoft.com/office/drawing/2014/main" id="{78772B43-FDA6-02DD-C2CA-31F6F3942D82}"/>
              </a:ext>
            </a:extLst>
          </p:cNvPr>
          <p:cNvSpPr txBox="1"/>
          <p:nvPr/>
        </p:nvSpPr>
        <p:spPr>
          <a:xfrm>
            <a:off x="822959" y="5579472"/>
            <a:ext cx="9839597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600" b="1" dirty="0">
                <a:solidFill>
                  <a:srgbClr val="58645B"/>
                </a:solidFill>
                <a:latin typeface="Aptos"/>
              </a:rPr>
              <a:t>Purpose: make the source reproducible before any analytical transformation happens.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SILVER &amp; DATA QUALITY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CREATE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7036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Silver is the quality boundary of the pipeline </a:t>
            </a:r>
            <a:r>
              <a:rPr lang="de-DE" sz="19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900" b="1" dirty="0">
                <a:solidFill>
                  <a:srgbClr val="005020"/>
                </a:solidFill>
                <a:latin typeface="Aptos"/>
              </a:rPr>
              <a:t> not just another file format.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19" y="2103120"/>
            <a:ext cx="2903515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DFF5E4"/>
                </a:solidFill>
                <a:latin typeface="Aptos"/>
              </a:rPr>
              <a:t>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dirty="0">
                <a:solidFill>
                  <a:srgbClr val="FFFFFF"/>
                </a:solidFill>
                <a:latin typeface="Aptos"/>
              </a:rPr>
              <a:t>required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8" y="2103120"/>
            <a:ext cx="2903515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42230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0" y="2615184"/>
            <a:ext cx="2552483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dirty="0">
                <a:solidFill>
                  <a:srgbClr val="FFFFFF"/>
                </a:solidFill>
                <a:latin typeface="Aptos"/>
              </a:rPr>
              <a:t>date and numeric </a:t>
            </a:r>
            <a:r>
              <a:rPr sz="1250" b="0" dirty="0" err="1">
                <a:solidFill>
                  <a:srgbClr val="FFFFFF"/>
                </a:solidFill>
                <a:latin typeface="Aptos"/>
              </a:rPr>
              <a:t>standardi</a:t>
            </a:r>
            <a:r>
              <a:rPr lang="de-DE" sz="1250" b="0" dirty="0">
                <a:solidFill>
                  <a:srgbClr val="FFFFFF"/>
                </a:solidFill>
                <a:latin typeface="Aptos"/>
              </a:rPr>
              <a:t>s</a:t>
            </a:r>
            <a:r>
              <a:rPr sz="1250" b="0" dirty="0" err="1">
                <a:solidFill>
                  <a:srgbClr val="FFFFFF"/>
                </a:solidFill>
                <a:latin typeface="Aptos"/>
              </a:rPr>
              <a:t>ation</a:t>
            </a:r>
            <a:endParaRPr sz="125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223758" y="2103120"/>
            <a:ext cx="2903515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8835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DFF5E4"/>
                </a:solidFill>
                <a:latin typeface="Aptos"/>
              </a:rPr>
              <a:t>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835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dirty="0">
                <a:solidFill>
                  <a:srgbClr val="FFFFFF"/>
                </a:solidFill>
                <a:latin typeface="Aptos"/>
              </a:rPr>
              <a:t>airport code and route validation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5235" y="3545204"/>
            <a:ext cx="2903515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99828" y="3709797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DFF5E4"/>
                </a:solidFill>
                <a:latin typeface="Aptos"/>
              </a:rPr>
              <a:t>Flags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9828" y="4057269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cancelled, diverted, delay flags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81354" y="3545204"/>
            <a:ext cx="2903515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45947" y="3709797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DFF5E4"/>
                </a:solidFill>
                <a:latin typeface="Aptos"/>
              </a:rPr>
              <a:t>Plausibility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5947" y="4057269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distance and elapsed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7205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Result: standardized Parquet data that can safely enter the analytical model.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960120" y="5264658"/>
            <a:ext cx="93268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000" b="1" dirty="0">
                <a:solidFill>
                  <a:srgbClr val="005020"/>
                </a:solidFill>
                <a:latin typeface="Aptos"/>
              </a:rPr>
              <a:t>Parquet is a column-oriented format for efficient storage and fast analytical queries.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DATA MODEL &amp; GOLD MARTS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0" y="2880360"/>
            <a:ext cx="22402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04488" y="3095896"/>
            <a:ext cx="2020824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fact_flight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794760" y="160020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78308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dim_date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60120" y="292608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9848" y="310896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dim_airline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04488" y="443484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dim_airport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18120" y="167335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0" y="1837944"/>
            <a:ext cx="246888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005020"/>
                </a:solidFill>
                <a:latin typeface="Aptos"/>
              </a:rPr>
              <a:t>Gold Airline Reliability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90779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0" y="3072384"/>
            <a:ext cx="246888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005020"/>
                </a:solidFill>
                <a:latin typeface="Aptos"/>
              </a:rPr>
              <a:t>Gold Airport Reliability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414223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0" y="4306824"/>
            <a:ext cx="246888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005020"/>
                </a:solidFill>
                <a:latin typeface="Aptos"/>
              </a:rPr>
              <a:t>Gold Route Reliability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13248"/>
            <a:ext cx="95097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</a:t>
            </a:r>
            <a:r>
              <a:rPr lang="de-DE" sz="1600" b="1" dirty="0">
                <a:solidFill>
                  <a:srgbClr val="005020"/>
                </a:solidFill>
                <a:latin typeface="Aptos"/>
              </a:rPr>
              <a:t>star-schema </a:t>
            </a:r>
            <a:r>
              <a:rPr sz="1600" b="1" dirty="0">
                <a:solidFill>
                  <a:srgbClr val="005020"/>
                </a:solidFill>
                <a:latin typeface="Aptos"/>
              </a:rPr>
              <a:t>model separates operational detail</a:t>
            </a:r>
            <a:r>
              <a:rPr lang="de-DE" sz="1600" b="1" dirty="0">
                <a:solidFill>
                  <a:srgbClr val="005020"/>
                </a:solidFill>
                <a:latin typeface="Aptos"/>
              </a:rPr>
              <a:t>s…</a:t>
            </a:r>
            <a:r>
              <a:rPr lang="de-DE" sz="1600" b="1" dirty="0" err="1">
                <a:solidFill>
                  <a:schemeClr val="bg1"/>
                </a:solidFill>
                <a:latin typeface="Aptos"/>
              </a:rPr>
              <a:t>om</a:t>
            </a:r>
            <a:r>
              <a:rPr lang="de-DE" sz="1600" b="1" dirty="0">
                <a:solidFill>
                  <a:schemeClr val="bg1"/>
                </a:solidFill>
                <a:latin typeface="Aptos"/>
              </a:rPr>
              <a:t> business-level </a:t>
            </a:r>
            <a:r>
              <a:rPr lang="de-DE" sz="1600" b="1" dirty="0" err="1">
                <a:solidFill>
                  <a:schemeClr val="bg1"/>
                </a:solidFill>
                <a:latin typeface="Aptos"/>
              </a:rPr>
              <a:t>reliability</a:t>
            </a:r>
            <a:r>
              <a:rPr lang="de-DE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de-DE" sz="1600" b="1" dirty="0" err="1">
                <a:solidFill>
                  <a:schemeClr val="bg1"/>
                </a:solidFill>
                <a:latin typeface="Aptos"/>
              </a:rPr>
              <a:t>metrics</a:t>
            </a:r>
            <a:r>
              <a:rPr lang="de-DE" sz="1600" b="1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14900" y="22585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00400" y="3255264"/>
            <a:ext cx="594360" cy="0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14900" y="36301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35040" y="2002536"/>
            <a:ext cx="1783080" cy="125272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035040" y="3236976"/>
            <a:ext cx="1783080" cy="1828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35040" y="3255264"/>
            <a:ext cx="1783080" cy="1216152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24">
            <a:extLst>
              <a:ext uri="{FF2B5EF4-FFF2-40B4-BE49-F238E27FC236}">
                <a16:creationId xmlns:a16="http://schemas.microsoft.com/office/drawing/2014/main" id="{46AC1ECC-5EF4-03FA-978B-6B70ADF864F9}"/>
              </a:ext>
            </a:extLst>
          </p:cNvPr>
          <p:cNvSpPr txBox="1"/>
          <p:nvPr/>
        </p:nvSpPr>
        <p:spPr>
          <a:xfrm>
            <a:off x="1051560" y="5413248"/>
            <a:ext cx="95097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</a:t>
            </a:r>
            <a:r>
              <a:rPr lang="de-DE" sz="1600" b="1" dirty="0">
                <a:solidFill>
                  <a:srgbClr val="005020"/>
                </a:solidFill>
                <a:latin typeface="Aptos"/>
              </a:rPr>
              <a:t>star-schema </a:t>
            </a:r>
            <a:r>
              <a:rPr sz="1600" b="1" dirty="0">
                <a:solidFill>
                  <a:srgbClr val="005020"/>
                </a:solidFill>
                <a:latin typeface="Aptos"/>
              </a:rPr>
              <a:t>model separates operational detail</a:t>
            </a:r>
            <a:r>
              <a:rPr lang="de-DE" sz="1600" b="1" dirty="0">
                <a:solidFill>
                  <a:srgbClr val="005020"/>
                </a:solidFill>
                <a:latin typeface="Aptos"/>
              </a:rPr>
              <a:t>s</a:t>
            </a:r>
            <a:r>
              <a:rPr sz="1600" b="1" dirty="0">
                <a:solidFill>
                  <a:srgbClr val="005020"/>
                </a:solidFill>
                <a:latin typeface="Aptos"/>
              </a:rPr>
              <a:t> from business-level reliability metrics.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20" grpId="0" animBg="1"/>
      <p:bldP spid="21" grpId="0"/>
      <p:bldP spid="23" grpId="0" animBg="1"/>
      <p:bldP spid="24" grpId="0"/>
      <p:bldP spid="25" grpId="0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AIRFLOW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FROM SCRIPTS TO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1812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A pipeline is more than a sequence of scripts.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984754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DFF5E4"/>
                </a:solidFill>
                <a:latin typeface="Aptos"/>
              </a:rPr>
              <a:t>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FFFFFF"/>
                </a:solidFill>
                <a:latin typeface="Aptos"/>
              </a:rPr>
              <a:t>monthly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87368" y="2057400"/>
            <a:ext cx="2984754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59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DFF5E4"/>
                </a:solidFill>
                <a:latin typeface="Aptos"/>
              </a:rPr>
              <a:t>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59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FFFFFF"/>
                </a:solidFill>
                <a:latin typeface="Aptos"/>
              </a:rPr>
              <a:t>correct task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7496" y="2057400"/>
            <a:ext cx="2984754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62088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DFF5E4"/>
                </a:solidFill>
                <a:latin typeface="Aptos"/>
              </a:rPr>
              <a:t>Retries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FFFFFF"/>
                </a:solidFill>
                <a:latin typeface="Aptos"/>
              </a:rPr>
              <a:t>temporary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37560"/>
            <a:ext cx="2984754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Failure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stop downstream 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3337560"/>
            <a:ext cx="2984754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59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Quality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prevent bad data propagation</a:t>
            </a:r>
          </a:p>
        </p:txBody>
      </p:sp>
      <p:sp>
        <p:nvSpPr>
          <p:cNvPr id="21" name="Rounded Rectangle 20">
            <a:hlinkClick r:id="rId2"/>
          </p:cNvPr>
          <p:cNvSpPr/>
          <p:nvPr/>
        </p:nvSpPr>
        <p:spPr>
          <a:xfrm>
            <a:off x="4069080" y="4983480"/>
            <a:ext cx="3474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69080" y="5056632"/>
            <a:ext cx="3474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005020"/>
                </a:solidFill>
                <a:latin typeface="Aptos"/>
              </a:rPr>
              <a:t>▶ LIVE DEMO </a:t>
            </a:r>
            <a:r>
              <a:rPr lang="de-DE" sz="13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300" b="1" dirty="0">
                <a:solidFill>
                  <a:srgbClr val="005020"/>
                </a:solidFill>
                <a:latin typeface="Aptos"/>
              </a:rPr>
              <a:t> AIRFLOW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559552"/>
            <a:ext cx="6309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Show DAG → task dependencies → retry / recovery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→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simulated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failure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endParaRPr sz="1000" b="1" dirty="0">
              <a:solidFill>
                <a:srgbClr val="58645B"/>
              </a:solidFill>
              <a:latin typeface="Aptos"/>
            </a:endParaRPr>
          </a:p>
        </p:txBody>
      </p:sp>
      <p:sp>
        <p:nvSpPr>
          <p:cNvPr id="24" name="Rounded Rectangle 17"/>
          <p:cNvSpPr/>
          <p:nvPr/>
        </p:nvSpPr>
        <p:spPr>
          <a:xfrm>
            <a:off x="7397496" y="3337560"/>
            <a:ext cx="2984754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8"/>
          <p:cNvSpPr txBox="1"/>
          <p:nvPr/>
        </p:nvSpPr>
        <p:spPr>
          <a:xfrm>
            <a:off x="7562088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dirty="0">
                <a:solidFill>
                  <a:srgbClr val="DFF5E4"/>
                </a:solidFill>
                <a:latin typeface="Aptos"/>
              </a:rPr>
              <a:t>Notification</a:t>
            </a:r>
          </a:p>
        </p:txBody>
      </p:sp>
      <p:sp>
        <p:nvSpPr>
          <p:cNvPr id="26" name="TextBox 19"/>
          <p:cNvSpPr txBox="1"/>
          <p:nvPr/>
        </p:nvSpPr>
        <p:spPr>
          <a:xfrm>
            <a:off x="7562088" y="3794760"/>
            <a:ext cx="256032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de-DE" sz="1150" b="0" dirty="0">
                <a:solidFill>
                  <a:srgbClr val="FFFFFF"/>
                </a:solidFill>
                <a:latin typeface="Aptos"/>
              </a:rPr>
              <a:t>Email </a:t>
            </a:r>
            <a:r>
              <a:rPr lang="de-DE" sz="1150" b="0" dirty="0" err="1">
                <a:solidFill>
                  <a:srgbClr val="FFFFFF"/>
                </a:solidFill>
                <a:latin typeface="Aptos"/>
              </a:rPr>
              <a:t>alerts</a:t>
            </a:r>
            <a:r>
              <a:rPr lang="de-DE" sz="115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150" b="0" dirty="0">
                <a:solidFill>
                  <a:srgbClr val="FFFFFF"/>
                </a:solidFill>
                <a:latin typeface="Aptos"/>
              </a:rPr>
              <a:t>on errors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0C18B-D69B-3CCF-0DD2-FBA71514A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52794-9615-21CD-7BCD-98243930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34951"/>
            <a:ext cx="11522075" cy="679223"/>
          </a:xfrm>
        </p:spPr>
        <p:txBody>
          <a:bodyPr wrap="square" anchor="t"/>
          <a:lstStyle/>
          <a:p>
            <a:r>
              <a:rPr lang="de-DE" sz="2700" dirty="0">
                <a:solidFill>
                  <a:srgbClr val="005020"/>
                </a:solidFill>
                <a:latin typeface="Aptos"/>
              </a:rPr>
              <a:t>AUTOMATED TESTING – WHEN &amp; WHY</a:t>
            </a:r>
            <a:endParaRPr sz="27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EEB028-565D-9E6F-8CD3-304950ACA325}"/>
              </a:ext>
            </a:extLst>
          </p:cNvPr>
          <p:cNvSpPr txBox="1"/>
          <p:nvPr/>
        </p:nvSpPr>
        <p:spPr>
          <a:xfrm>
            <a:off x="791988" y="1453240"/>
            <a:ext cx="10601141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000" b="1" dirty="0" err="1">
                <a:solidFill>
                  <a:srgbClr val="005C2D"/>
                </a:solidFill>
              </a:rPr>
              <a:t>Pytest</a:t>
            </a:r>
            <a:r>
              <a:rPr lang="en-US" sz="2000" b="1" dirty="0">
                <a:solidFill>
                  <a:srgbClr val="005C2D"/>
                </a:solidFill>
              </a:rPr>
              <a:t> validates critical code logic independently from the monthly Airflow data run.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05B13BF-361D-2FA3-A89E-5EE8F4F160CE}"/>
              </a:ext>
            </a:extLst>
          </p:cNvPr>
          <p:cNvSpPr/>
          <p:nvPr/>
        </p:nvSpPr>
        <p:spPr>
          <a:xfrm>
            <a:off x="830327" y="1910440"/>
            <a:ext cx="4663437" cy="160705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D043B3-7FDF-106D-0282-5A284CFD559E}"/>
              </a:ext>
            </a:extLst>
          </p:cNvPr>
          <p:cNvSpPr txBox="1"/>
          <p:nvPr/>
        </p:nvSpPr>
        <p:spPr>
          <a:xfrm>
            <a:off x="1104648" y="1982120"/>
            <a:ext cx="20116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e-DE" sz="1100" b="1" dirty="0">
                <a:solidFill>
                  <a:srgbClr val="DFF5E4"/>
                </a:solidFill>
                <a:latin typeface="Aptos"/>
              </a:rPr>
              <a:t>WHAT IS TESTED?</a:t>
            </a:r>
            <a:endParaRPr sz="1100" b="1" dirty="0">
              <a:solidFill>
                <a:srgbClr val="DFF5E4"/>
              </a:solidFill>
              <a:latin typeface="Apto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64C497-EEF3-2603-ECC1-72D2CD5BBAB7}"/>
              </a:ext>
            </a:extLst>
          </p:cNvPr>
          <p:cNvSpPr txBox="1"/>
          <p:nvPr/>
        </p:nvSpPr>
        <p:spPr>
          <a:xfrm>
            <a:off x="1104648" y="2154682"/>
            <a:ext cx="3698088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 err="1"/>
              <a:t>schema</a:t>
            </a:r>
            <a:r>
              <a:rPr lang="de-DE" dirty="0"/>
              <a:t> </a:t>
            </a:r>
            <a:r>
              <a:rPr lang="de-DE" dirty="0" err="1"/>
              <a:t>validation</a:t>
            </a:r>
            <a:endParaRPr lang="de-DE" dirty="0"/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 err="1"/>
              <a:t>data</a:t>
            </a:r>
            <a:r>
              <a:rPr lang="de-DE" dirty="0"/>
              <a:t>-quality </a:t>
            </a:r>
            <a:r>
              <a:rPr lang="de-DE" dirty="0" err="1"/>
              <a:t>rules</a:t>
            </a:r>
            <a:r>
              <a:rPr lang="de-DE" dirty="0"/>
              <a:t> &amp; route </a:t>
            </a:r>
            <a:r>
              <a:rPr lang="de-DE" dirty="0" err="1"/>
              <a:t>logic</a:t>
            </a:r>
            <a:endParaRPr lang="de-DE" dirty="0"/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 err="1"/>
              <a:t>Silver</a:t>
            </a:r>
            <a:r>
              <a:rPr lang="de-DE" dirty="0"/>
              <a:t> </a:t>
            </a:r>
            <a:r>
              <a:rPr lang="de-DE" dirty="0" err="1"/>
              <a:t>flight</a:t>
            </a:r>
            <a:r>
              <a:rPr lang="de-DE" dirty="0"/>
              <a:t> &amp;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handling</a:t>
            </a:r>
            <a:endParaRPr lang="de-DE" dirty="0"/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 err="1"/>
              <a:t>controlled</a:t>
            </a:r>
            <a:r>
              <a:rPr lang="de-DE" dirty="0"/>
              <a:t> </a:t>
            </a:r>
            <a:r>
              <a:rPr lang="de-DE" dirty="0" err="1"/>
              <a:t>failure</a:t>
            </a:r>
            <a:r>
              <a:rPr lang="de-DE" dirty="0"/>
              <a:t> </a:t>
            </a:r>
            <a:r>
              <a:rPr lang="de-DE" dirty="0" err="1"/>
              <a:t>behaviour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E0B06-7584-1C52-23D6-72FC4B14AB7D}"/>
              </a:ext>
            </a:extLst>
          </p:cNvPr>
          <p:cNvSpPr txBox="1"/>
          <p:nvPr/>
        </p:nvSpPr>
        <p:spPr>
          <a:xfrm>
            <a:off x="868680" y="5605272"/>
            <a:ext cx="96012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de-DE"/>
            </a:defPPr>
            <a:lvl1pPr algn="ctr">
              <a:defRPr sz="1600" b="1">
                <a:solidFill>
                  <a:srgbClr val="58645B"/>
                </a:solidFill>
                <a:latin typeface="Aptos"/>
              </a:defRPr>
            </a:lvl1pPr>
          </a:lstStyle>
          <a:p>
            <a:r>
              <a:rPr lang="en-US" dirty="0"/>
              <a:t>Monthly Airflow quality checks validate new data – </a:t>
            </a:r>
            <a:r>
              <a:rPr lang="en-US" dirty="0" err="1"/>
              <a:t>pytest</a:t>
            </a:r>
            <a:r>
              <a:rPr lang="en-US" dirty="0"/>
              <a:t> validates the code when the code changes.</a:t>
            </a:r>
            <a:endParaRPr dirty="0"/>
          </a:p>
        </p:txBody>
      </p:sp>
      <p:sp>
        <p:nvSpPr>
          <p:cNvPr id="12" name="TextBox 22">
            <a:extLst>
              <a:ext uri="{FF2B5EF4-FFF2-40B4-BE49-F238E27FC236}">
                <a16:creationId xmlns:a16="http://schemas.microsoft.com/office/drawing/2014/main" id="{AA1A3F1D-78DF-88CB-9B00-D668F914EDCA}"/>
              </a:ext>
            </a:extLst>
          </p:cNvPr>
          <p:cNvSpPr txBox="1"/>
          <p:nvPr/>
        </p:nvSpPr>
        <p:spPr>
          <a:xfrm>
            <a:off x="2743200" y="5876636"/>
            <a:ext cx="6309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000" b="1" dirty="0">
                <a:latin typeface="Aptos" panose="020B0004020202020204" pitchFamily="34" charset="0"/>
              </a:rPr>
              <a:t>Current setup: </a:t>
            </a:r>
            <a:r>
              <a:rPr lang="en-US" sz="1000" b="1" dirty="0" err="1">
                <a:latin typeface="Aptos" panose="020B0004020202020204" pitchFamily="34" charset="0"/>
              </a:rPr>
              <a:t>pytest</a:t>
            </a:r>
            <a:r>
              <a:rPr lang="en-US" sz="1000" b="1" dirty="0">
                <a:latin typeface="Aptos" panose="020B0004020202020204" pitchFamily="34" charset="0"/>
              </a:rPr>
              <a:t> is started manually - it is not part of the Airflow DAG.</a:t>
            </a:r>
            <a:r>
              <a:rPr lang="de-DE" sz="1000" b="1" dirty="0">
                <a:solidFill>
                  <a:srgbClr val="58645B"/>
                </a:solidFill>
                <a:latin typeface="Aptos" panose="020B0004020202020204" pitchFamily="34" charset="0"/>
              </a:rPr>
              <a:t> </a:t>
            </a:r>
            <a:endParaRPr sz="1000" b="1" dirty="0">
              <a:solidFill>
                <a:srgbClr val="58645B"/>
              </a:solidFill>
              <a:latin typeface="Aptos" panose="020B0004020202020204" pitchFamily="34" charset="0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AEDAAA8-F657-70D1-C28F-A8C1295D4861}"/>
              </a:ext>
            </a:extLst>
          </p:cNvPr>
          <p:cNvSpPr/>
          <p:nvPr/>
        </p:nvSpPr>
        <p:spPr>
          <a:xfrm>
            <a:off x="830327" y="3617750"/>
            <a:ext cx="4663437" cy="160705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6D658B2B-16FB-1101-F7A6-8ABED01A4B6F}"/>
              </a:ext>
            </a:extLst>
          </p:cNvPr>
          <p:cNvSpPr txBox="1"/>
          <p:nvPr/>
        </p:nvSpPr>
        <p:spPr>
          <a:xfrm>
            <a:off x="1104648" y="3689430"/>
            <a:ext cx="23317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e-DE" sz="1100" b="1" dirty="0">
                <a:solidFill>
                  <a:srgbClr val="DFF5E4"/>
                </a:solidFill>
                <a:latin typeface="Aptos"/>
              </a:rPr>
              <a:t>WHEN SHOULD TESTS BE RUN?</a:t>
            </a:r>
            <a:endParaRPr sz="1100" b="1" dirty="0">
              <a:solidFill>
                <a:srgbClr val="DFF5E4"/>
              </a:solidFill>
              <a:latin typeface="Aptos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0FF2E97-F4DC-D2F5-8786-D3AF3A3C1597}"/>
              </a:ext>
            </a:extLst>
          </p:cNvPr>
          <p:cNvSpPr txBox="1"/>
          <p:nvPr/>
        </p:nvSpPr>
        <p:spPr>
          <a:xfrm>
            <a:off x="1104646" y="3861992"/>
            <a:ext cx="4389119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after </a:t>
            </a:r>
            <a:r>
              <a:rPr lang="de-DE" dirty="0" err="1"/>
              <a:t>changes</a:t>
            </a:r>
            <a:r>
              <a:rPr lang="de-DE" dirty="0"/>
              <a:t> to </a:t>
            </a:r>
            <a:r>
              <a:rPr lang="de-DE" dirty="0" err="1"/>
              <a:t>transformation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loading</a:t>
            </a:r>
            <a:r>
              <a:rPr lang="de-DE" dirty="0"/>
              <a:t> code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commit</a:t>
            </a:r>
            <a:r>
              <a:rPr lang="de-DE" dirty="0"/>
              <a:t> / release / </a:t>
            </a:r>
            <a:r>
              <a:rPr lang="de-DE" dirty="0" err="1"/>
              <a:t>presentation</a:t>
            </a:r>
            <a:endParaRPr lang="de-DE" dirty="0"/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After </a:t>
            </a:r>
            <a:r>
              <a:rPr lang="de-DE" dirty="0" err="1"/>
              <a:t>dependency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changes</a:t>
            </a:r>
            <a:endParaRPr lang="de-DE" dirty="0"/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Not </a:t>
            </a:r>
            <a:r>
              <a:rPr lang="de-DE" dirty="0" err="1"/>
              <a:t>simply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month</a:t>
            </a:r>
            <a:r>
              <a:rPr lang="de-DE" dirty="0"/>
              <a:t> </a:t>
            </a:r>
            <a:r>
              <a:rPr lang="de-DE" dirty="0" err="1"/>
              <a:t>arrives</a:t>
            </a:r>
            <a:endParaRPr dirty="0"/>
          </a:p>
        </p:txBody>
      </p:sp>
      <p:pic>
        <p:nvPicPr>
          <p:cNvPr id="20" name="Picture 5" descr="template_slide2_image.png">
            <a:extLst>
              <a:ext uri="{FF2B5EF4-FFF2-40B4-BE49-F238E27FC236}">
                <a16:creationId xmlns:a16="http://schemas.microsoft.com/office/drawing/2014/main" id="{4FE1A6CF-DB17-B3AF-43C1-5C46BB929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56" y="2154154"/>
            <a:ext cx="5120640" cy="284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760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CONSUMPTION LAYER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RELIABILITY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38" y="1453240"/>
            <a:ext cx="10587447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The Gold layer becomes an interactive decision layer </a:t>
            </a:r>
            <a:r>
              <a:rPr lang="de-DE" sz="19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900" b="1" dirty="0">
                <a:solidFill>
                  <a:srgbClr val="005020"/>
                </a:solidFill>
                <a:latin typeface="Aptos"/>
              </a:rPr>
              <a:t> without exposing pipeline complexity.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KPI comparison and development over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departure </a:t>
            </a:r>
            <a:r>
              <a:rPr lang="de-DE" sz="1400" b="0" dirty="0">
                <a:solidFill>
                  <a:srgbClr val="FFFFFF"/>
                </a:solidFill>
                <a:latin typeface="Aptos"/>
              </a:rPr>
              <a:t>&amp;</a:t>
            </a:r>
            <a:r>
              <a:rPr sz="1400" b="0" dirty="0">
                <a:solidFill>
                  <a:srgbClr val="FFFFFF"/>
                </a:solidFill>
                <a:latin typeface="Aptos"/>
              </a:rPr>
              <a:t> arrival</a:t>
            </a:r>
            <a:r>
              <a:rPr lang="de-DE" sz="1400" b="0" dirty="0">
                <a:solidFill>
                  <a:srgbClr val="FFFFFF"/>
                </a:solidFill>
                <a:latin typeface="Aptos"/>
              </a:rPr>
              <a:t> </a:t>
            </a:r>
            <a:r>
              <a:rPr lang="de-DE" sz="1400" b="0" dirty="0" err="1">
                <a:solidFill>
                  <a:srgbClr val="FFFFFF"/>
                </a:solidFill>
                <a:latin typeface="Aptos"/>
              </a:rPr>
              <a:t>reliability</a:t>
            </a:r>
            <a:r>
              <a:rPr sz="1400" b="0" dirty="0">
                <a:solidFill>
                  <a:srgbClr val="FFFFFF"/>
                </a:solidFill>
                <a:latin typeface="Aptos"/>
              </a:rPr>
              <a:t> </a:t>
            </a:r>
            <a:endParaRPr lang="de-DE" sz="1400" b="0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de-DE" sz="1400" b="0" dirty="0" err="1">
                <a:solidFill>
                  <a:srgbClr val="FFFFFF"/>
                </a:solidFill>
                <a:latin typeface="Aptos"/>
              </a:rPr>
              <a:t>with</a:t>
            </a:r>
            <a:r>
              <a:rPr lang="de-DE" sz="1400" b="0" dirty="0">
                <a:solidFill>
                  <a:srgbClr val="FFFFFF"/>
                </a:solidFill>
                <a:latin typeface="Aptos"/>
              </a:rPr>
              <a:t> KPI and</a:t>
            </a:r>
            <a:r>
              <a:rPr sz="1400" b="0" dirty="0">
                <a:solidFill>
                  <a:srgbClr val="FFFFFF"/>
                </a:solidFill>
                <a:latin typeface="Aptos"/>
              </a:rPr>
              <a:t> 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>
                <a:solidFill>
                  <a:srgbClr val="DFF5E4"/>
                </a:solidFill>
                <a:latin typeface="Aptos"/>
              </a:rPr>
              <a:t>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comparison, map and specific-route analysis</a:t>
            </a:r>
          </a:p>
        </p:txBody>
      </p:sp>
      <p:sp>
        <p:nvSpPr>
          <p:cNvPr id="15" name="Rounded Rectangle 14">
            <a:hlinkClick r:id="rId2"/>
          </p:cNvPr>
          <p:cNvSpPr/>
          <p:nvPr/>
        </p:nvSpPr>
        <p:spPr>
          <a:xfrm>
            <a:off x="4069080" y="4809744"/>
            <a:ext cx="3749039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69080" y="4882896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05020"/>
                </a:solidFill>
                <a:latin typeface="Aptos"/>
              </a:rPr>
              <a:t>▶ OPEN LIVE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413248"/>
            <a:ext cx="72694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Live demo: Airlines → Airports → Routes - selected interactions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DDF9FABB-6CEF-8AE9-D948-608577322A90}"/>
              </a:ext>
            </a:extLst>
          </p:cNvPr>
          <p:cNvSpPr txBox="1">
            <a:spLocks/>
          </p:cNvSpPr>
          <p:nvPr/>
        </p:nvSpPr>
        <p:spPr>
          <a:xfrm>
            <a:off x="354416" y="280068"/>
            <a:ext cx="11502621" cy="1143000"/>
          </a:xfrm>
          <a:prstGeom prst="rect">
            <a:avLst/>
          </a:prstGeom>
        </p:spPr>
        <p:txBody>
          <a:bodyPr wrap="square" anchor="t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bg2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9pPr>
          </a:lstStyle>
          <a:p>
            <a:r>
              <a:rPr lang="de-DE" sz="2700" kern="0" dirty="0">
                <a:solidFill>
                  <a:srgbClr val="005020"/>
                </a:solidFill>
                <a:latin typeface="Aptos"/>
              </a:rPr>
              <a:t>5 AIRLINES WITH THE MOST FLIGHTS 01/25-06/26 (PLUS </a:t>
            </a:r>
          </a:p>
          <a:p>
            <a:r>
              <a:rPr lang="de-DE" sz="2700" kern="0" dirty="0">
                <a:solidFill>
                  <a:srgbClr val="005020"/>
                </a:solidFill>
                <a:latin typeface="Aptos"/>
              </a:rPr>
              <a:t>ALL AIRLINES), METRIC: AVG. DEPARTURE DELAY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12C6464C-F017-9535-E086-3E25F1C3B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256" y="1511723"/>
            <a:ext cx="7467680" cy="4624029"/>
          </a:xfrm>
          <a:prstGeom prst="rect">
            <a:avLst/>
          </a:prstGeom>
          <a:ln>
            <a:solidFill>
              <a:srgbClr val="0A7A35"/>
            </a:solidFill>
          </a:ln>
        </p:spPr>
      </p:pic>
    </p:spTree>
    <p:extLst>
      <p:ext uri="{BB962C8B-B14F-4D97-AF65-F5344CB8AC3E}">
        <p14:creationId xmlns:p14="http://schemas.microsoft.com/office/powerpoint/2010/main" val="2450462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F17CF-7C73-14AE-DAB7-BD2BD8FDC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1528784-C5C9-CFF4-325A-ECDF45A9DD26}"/>
              </a:ext>
            </a:extLst>
          </p:cNvPr>
          <p:cNvSpPr txBox="1">
            <a:spLocks/>
          </p:cNvSpPr>
          <p:nvPr/>
        </p:nvSpPr>
        <p:spPr>
          <a:xfrm>
            <a:off x="354416" y="280068"/>
            <a:ext cx="11502621" cy="1143000"/>
          </a:xfrm>
          <a:prstGeom prst="rect">
            <a:avLst/>
          </a:prstGeom>
        </p:spPr>
        <p:txBody>
          <a:bodyPr wrap="square" anchor="t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bg2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9pPr>
          </a:lstStyle>
          <a:p>
            <a:r>
              <a:rPr lang="en-US" sz="2700" kern="0" dirty="0">
                <a:solidFill>
                  <a:srgbClr val="005020"/>
                </a:solidFill>
                <a:latin typeface="Aptos"/>
              </a:rPr>
              <a:t>TOP 38 ROUTES (&gt; 0.1% OF TOTAL TRAFFIC / ~10M FLIGHTS)</a:t>
            </a:r>
          </a:p>
          <a:p>
            <a:r>
              <a:rPr lang="en-US" sz="2700" kern="0" dirty="0">
                <a:solidFill>
                  <a:srgbClr val="005020"/>
                </a:solidFill>
                <a:latin typeface="Aptos"/>
              </a:rPr>
              <a:t>01/25 - 06/26, METRIC: </a:t>
            </a:r>
            <a:r>
              <a:rPr lang="de-DE" sz="2700" kern="0" dirty="0">
                <a:solidFill>
                  <a:srgbClr val="005020"/>
                </a:solidFill>
                <a:latin typeface="Aptos"/>
              </a:rPr>
              <a:t>AVG.</a:t>
            </a:r>
            <a:r>
              <a:rPr lang="en-US" sz="2700" kern="0" dirty="0">
                <a:solidFill>
                  <a:srgbClr val="005020"/>
                </a:solidFill>
                <a:latin typeface="Aptos"/>
              </a:rPr>
              <a:t> ARRIVAL DELAY</a:t>
            </a:r>
            <a:endParaRPr lang="de-DE" sz="2700" kern="0" dirty="0">
              <a:solidFill>
                <a:srgbClr val="005020"/>
              </a:solidFill>
              <a:latin typeface="Apto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CE344C4-EF7C-CABF-45B3-565F5233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091" y="1478872"/>
            <a:ext cx="7740746" cy="4807628"/>
          </a:xfrm>
          <a:prstGeom prst="rect">
            <a:avLst/>
          </a:prstGeom>
          <a:ln>
            <a:solidFill>
              <a:srgbClr val="0A7A35"/>
            </a:solidFill>
          </a:ln>
        </p:spPr>
      </p:pic>
    </p:spTree>
    <p:extLst>
      <p:ext uri="{BB962C8B-B14F-4D97-AF65-F5344CB8AC3E}">
        <p14:creationId xmlns:p14="http://schemas.microsoft.com/office/powerpoint/2010/main" val="1991136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0EFB9-E461-C9F2-2FEE-0243995B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E0E7371F-2044-B3DB-92B0-57F75D5243FE}"/>
              </a:ext>
            </a:extLst>
          </p:cNvPr>
          <p:cNvSpPr txBox="1">
            <a:spLocks/>
          </p:cNvSpPr>
          <p:nvPr/>
        </p:nvSpPr>
        <p:spPr>
          <a:xfrm>
            <a:off x="354416" y="280068"/>
            <a:ext cx="11502621" cy="1143000"/>
          </a:xfrm>
          <a:prstGeom prst="rect">
            <a:avLst/>
          </a:prstGeom>
        </p:spPr>
        <p:txBody>
          <a:bodyPr wrap="square" anchor="t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bg2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595959"/>
                </a:solidFill>
                <a:latin typeface="Helvetica-Bold"/>
                <a:cs typeface="Tahoma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646B86"/>
                </a:solidFill>
                <a:latin typeface="Arial" charset="0"/>
              </a:defRPr>
            </a:lvl9pPr>
          </a:lstStyle>
          <a:p>
            <a:r>
              <a:rPr lang="de-DE" sz="2700" kern="0" dirty="0">
                <a:solidFill>
                  <a:srgbClr val="005020"/>
                </a:solidFill>
                <a:latin typeface="Aptos"/>
              </a:rPr>
              <a:t>AIRPORTS WITH THE MOST FLIGHTS 01/25-06/26,</a:t>
            </a:r>
          </a:p>
          <a:p>
            <a:r>
              <a:rPr lang="de-DE" sz="2700" kern="0" dirty="0">
                <a:solidFill>
                  <a:srgbClr val="005020"/>
                </a:solidFill>
                <a:latin typeface="Aptos"/>
              </a:rPr>
              <a:t>METRIC: ON-TIME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54C4406-D2AA-B45E-F009-E64D6BC30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15" y="1457118"/>
            <a:ext cx="11471845" cy="4806947"/>
          </a:xfrm>
          <a:prstGeom prst="rect">
            <a:avLst/>
          </a:prstGeom>
          <a:ln>
            <a:solidFill>
              <a:srgbClr val="0A7A35"/>
            </a:solidFill>
          </a:ln>
        </p:spPr>
      </p:pic>
    </p:spTree>
    <p:extLst>
      <p:ext uri="{BB962C8B-B14F-4D97-AF65-F5344CB8AC3E}">
        <p14:creationId xmlns:p14="http://schemas.microsoft.com/office/powerpoint/2010/main" val="533016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FA8F854D-81F5-9E10-5C10-EEFD2BA4A09A}"/>
              </a:ext>
            </a:extLst>
          </p:cNvPr>
          <p:cNvSpPr/>
          <p:nvPr/>
        </p:nvSpPr>
        <p:spPr>
          <a:xfrm>
            <a:off x="777240" y="1609725"/>
            <a:ext cx="3956685" cy="327660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0E6F9DE6-F897-7CDC-F7ED-35186D78DEB9}"/>
              </a:ext>
            </a:extLst>
          </p:cNvPr>
          <p:cNvSpPr/>
          <p:nvPr/>
        </p:nvSpPr>
        <p:spPr>
          <a:xfrm>
            <a:off x="5577840" y="1609725"/>
            <a:ext cx="3956685" cy="327660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r>
              <a:rPr sz="2700" b="1" dirty="0">
                <a:solidFill>
                  <a:srgbClr val="005020"/>
                </a:solidFill>
                <a:latin typeface="Aptos"/>
              </a:rPr>
              <a:t>RE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SULTS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&amp;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RECOMMENDATIONS</a:t>
            </a:r>
            <a:endParaRPr sz="27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366097" y="5140518"/>
            <a:ext cx="573015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US" sz="1600" b="1" dirty="0">
                <a:latin typeface="Aptos" panose="020B0004020202020204" pitchFamily="34" charset="0"/>
              </a:rPr>
              <a:t>The outcome enables data-driven decisions on airline, airport, and route reliability - without accessing raw files.</a:t>
            </a:r>
          </a:p>
        </p:txBody>
      </p:sp>
      <p:sp>
        <p:nvSpPr>
          <p:cNvPr id="24" name="Rounded Rectangle 5">
            <a:extLst>
              <a:ext uri="{FF2B5EF4-FFF2-40B4-BE49-F238E27FC236}">
                <a16:creationId xmlns:a16="http://schemas.microsoft.com/office/drawing/2014/main" id="{A65B640E-5FA8-7B88-7D8D-0887B9160049}"/>
              </a:ext>
            </a:extLst>
          </p:cNvPr>
          <p:cNvSpPr/>
          <p:nvPr/>
        </p:nvSpPr>
        <p:spPr>
          <a:xfrm>
            <a:off x="1293764" y="2094465"/>
            <a:ext cx="2667600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Reliable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monthly</a:t>
            </a:r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 KPI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basis</a:t>
            </a:r>
            <a:endParaRPr lang="de-DE" dirty="0">
              <a:solidFill>
                <a:srgbClr val="0C7D2C"/>
              </a:solidFill>
              <a:latin typeface="Aptos" panose="020B0004020202020204" pitchFamily="34" charset="0"/>
            </a:endParaRPr>
          </a:p>
        </p:txBody>
      </p:sp>
      <p:sp>
        <p:nvSpPr>
          <p:cNvPr id="25" name="Rounded Rectangle 5">
            <a:extLst>
              <a:ext uri="{FF2B5EF4-FFF2-40B4-BE49-F238E27FC236}">
                <a16:creationId xmlns:a16="http://schemas.microsoft.com/office/drawing/2014/main" id="{23C8AF63-9110-F2CE-7CB0-D8A4A52AFA81}"/>
              </a:ext>
            </a:extLst>
          </p:cNvPr>
          <p:cNvSpPr/>
          <p:nvPr/>
        </p:nvSpPr>
        <p:spPr>
          <a:xfrm>
            <a:off x="6165232" y="2103990"/>
            <a:ext cx="2667600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I</a:t>
            </a:r>
            <a:r>
              <a:rPr lang="en-US" dirty="0" err="1">
                <a:solidFill>
                  <a:srgbClr val="0C7D2C"/>
                </a:solidFill>
                <a:latin typeface="Aptos" panose="020B0004020202020204" pitchFamily="34" charset="0"/>
              </a:rPr>
              <a:t>dentify</a:t>
            </a:r>
            <a:r>
              <a:rPr lang="en-US" dirty="0">
                <a:solidFill>
                  <a:srgbClr val="0C7D2C"/>
                </a:solidFill>
                <a:latin typeface="Aptos" panose="020B0004020202020204" pitchFamily="34" charset="0"/>
              </a:rPr>
              <a:t> areas for deeper analysis</a:t>
            </a:r>
          </a:p>
        </p:txBody>
      </p:sp>
      <p:sp>
        <p:nvSpPr>
          <p:cNvPr id="26" name="Rounded Rectangle 5">
            <a:extLst>
              <a:ext uri="{FF2B5EF4-FFF2-40B4-BE49-F238E27FC236}">
                <a16:creationId xmlns:a16="http://schemas.microsoft.com/office/drawing/2014/main" id="{20BE8913-C6B3-E46A-96AB-67639D12720A}"/>
              </a:ext>
            </a:extLst>
          </p:cNvPr>
          <p:cNvSpPr/>
          <p:nvPr/>
        </p:nvSpPr>
        <p:spPr>
          <a:xfrm>
            <a:off x="6165232" y="3396408"/>
            <a:ext cx="2667600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S</a:t>
            </a:r>
            <a:r>
              <a:rPr lang="en-US" dirty="0" err="1">
                <a:solidFill>
                  <a:srgbClr val="0C7D2C"/>
                </a:solidFill>
                <a:latin typeface="Aptos" panose="020B0004020202020204" pitchFamily="34" charset="0"/>
              </a:rPr>
              <a:t>upport</a:t>
            </a:r>
            <a:r>
              <a:rPr lang="en-US" dirty="0">
                <a:solidFill>
                  <a:srgbClr val="0C7D2C"/>
                </a:solidFill>
                <a:latin typeface="Aptos" panose="020B0004020202020204" pitchFamily="34" charset="0"/>
              </a:rPr>
              <a:t> decisions -</a:t>
            </a:r>
          </a:p>
          <a:p>
            <a:pPr algn="ctr"/>
            <a:r>
              <a:rPr lang="en-US" dirty="0">
                <a:solidFill>
                  <a:srgbClr val="0C7D2C"/>
                </a:solidFill>
                <a:latin typeface="Aptos" panose="020B0004020202020204" pitchFamily="34" charset="0"/>
              </a:rPr>
              <a:t> not replace them</a:t>
            </a:r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0FFB2AAF-3E04-86E9-A793-9AFAC53E51F3}"/>
              </a:ext>
            </a:extLst>
          </p:cNvPr>
          <p:cNvSpPr/>
          <p:nvPr/>
        </p:nvSpPr>
        <p:spPr>
          <a:xfrm>
            <a:off x="1259857" y="3396408"/>
            <a:ext cx="2667600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A</a:t>
            </a:r>
            <a:r>
              <a:rPr lang="en-US" dirty="0" err="1">
                <a:solidFill>
                  <a:srgbClr val="0C7D2C"/>
                </a:solidFill>
                <a:latin typeface="Aptos" panose="020B0004020202020204" pitchFamily="34" charset="0"/>
              </a:rPr>
              <a:t>irline</a:t>
            </a:r>
            <a:r>
              <a:rPr lang="en-US" dirty="0">
                <a:solidFill>
                  <a:srgbClr val="0C7D2C"/>
                </a:solidFill>
                <a:latin typeface="Aptos" panose="020B0004020202020204" pitchFamily="34" charset="0"/>
              </a:rPr>
              <a:t>, airport and route comparison </a:t>
            </a:r>
            <a:endParaRPr lang="de-DE" dirty="0">
              <a:solidFill>
                <a:srgbClr val="0C7D2C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6150A84C-BC0E-9EE2-978E-1C2883CD55F7}"/>
              </a:ext>
            </a:extLst>
          </p:cNvPr>
          <p:cNvSpPr txBox="1"/>
          <p:nvPr/>
        </p:nvSpPr>
        <p:spPr>
          <a:xfrm>
            <a:off x="5857875" y="1790320"/>
            <a:ext cx="20116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e-DE" sz="1100" b="1" dirty="0" err="1">
                <a:solidFill>
                  <a:srgbClr val="DFF5E4"/>
                </a:solidFill>
                <a:latin typeface="Aptos"/>
              </a:rPr>
              <a:t>Recommendations</a:t>
            </a:r>
            <a:endParaRPr sz="1100" b="1" dirty="0">
              <a:solidFill>
                <a:srgbClr val="DFF5E4"/>
              </a:solidFill>
              <a:latin typeface="Aptos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A7A86DE2-B310-B42C-A26C-8E194B61807F}"/>
              </a:ext>
            </a:extLst>
          </p:cNvPr>
          <p:cNvSpPr txBox="1"/>
          <p:nvPr/>
        </p:nvSpPr>
        <p:spPr>
          <a:xfrm>
            <a:off x="1019175" y="1769505"/>
            <a:ext cx="20116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e-DE" sz="1100" b="1" dirty="0" err="1">
                <a:solidFill>
                  <a:srgbClr val="DFF5E4"/>
                </a:solidFill>
                <a:latin typeface="Aptos"/>
              </a:rPr>
              <a:t>Results</a:t>
            </a:r>
            <a:endParaRPr sz="1100" b="1" dirty="0">
              <a:solidFill>
                <a:srgbClr val="DFF5E4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BA5B6-B06B-B72A-05E4-19E157D04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65230-2794-287F-E9AF-19CB6166C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OUTLOOK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3A1B939F-BBBB-33E0-8F9E-C3B5F32FEA95}"/>
              </a:ext>
            </a:extLst>
          </p:cNvPr>
          <p:cNvSpPr txBox="1"/>
          <p:nvPr/>
        </p:nvSpPr>
        <p:spPr>
          <a:xfrm>
            <a:off x="354416" y="4966335"/>
            <a:ext cx="11234057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u="sng" dirty="0">
                <a:solidFill>
                  <a:srgbClr val="005020"/>
                </a:solidFill>
                <a:latin typeface="Aptos"/>
              </a:rPr>
              <a:t>Reliable decisions require reliable data</a:t>
            </a:r>
            <a:r>
              <a:rPr lang="de-DE" sz="4000" b="1" u="sng" dirty="0">
                <a:solidFill>
                  <a:srgbClr val="005020"/>
                </a:solidFill>
                <a:latin typeface="Aptos"/>
              </a:rPr>
              <a:t>!</a:t>
            </a:r>
            <a:endParaRPr sz="4000" b="1" u="sng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244CB273-B769-F3EC-89A0-BB048D5998C2}"/>
              </a:ext>
            </a:extLst>
          </p:cNvPr>
          <p:cNvSpPr/>
          <p:nvPr/>
        </p:nvSpPr>
        <p:spPr>
          <a:xfrm>
            <a:off x="777240" y="1600200"/>
            <a:ext cx="7922380" cy="327660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u="sng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57B68C-B8EE-144F-34F4-798D236FAA72}"/>
              </a:ext>
            </a:extLst>
          </p:cNvPr>
          <p:cNvSpPr/>
          <p:nvPr/>
        </p:nvSpPr>
        <p:spPr>
          <a:xfrm>
            <a:off x="1454400" y="2065890"/>
            <a:ext cx="2668566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Why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did</a:t>
            </a:r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delays</a:t>
            </a:r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 happen?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D8251A1-1F19-F385-B024-ED893033A2B7}"/>
              </a:ext>
            </a:extLst>
          </p:cNvPr>
          <p:cNvSpPr/>
          <p:nvPr/>
        </p:nvSpPr>
        <p:spPr>
          <a:xfrm>
            <a:off x="1454400" y="3383281"/>
            <a:ext cx="2668566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Monitoring and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alerting</a:t>
            </a:r>
            <a:endParaRPr lang="en-US" dirty="0">
              <a:solidFill>
                <a:srgbClr val="0C7D2C"/>
              </a:solidFill>
              <a:latin typeface="Aptos" panose="020B0004020202020204" pitchFamily="34" charset="0"/>
            </a:endParaRPr>
          </a:p>
        </p:txBody>
      </p:sp>
      <p:sp>
        <p:nvSpPr>
          <p:cNvPr id="14" name="Rounded Rectangle 5">
            <a:extLst>
              <a:ext uri="{FF2B5EF4-FFF2-40B4-BE49-F238E27FC236}">
                <a16:creationId xmlns:a16="http://schemas.microsoft.com/office/drawing/2014/main" id="{B91B5611-EC39-AA78-7F37-B5F68706FCE9}"/>
              </a:ext>
            </a:extLst>
          </p:cNvPr>
          <p:cNvSpPr/>
          <p:nvPr/>
        </p:nvSpPr>
        <p:spPr>
          <a:xfrm>
            <a:off x="5108105" y="3345602"/>
            <a:ext cx="2668566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C7D2C"/>
                </a:solidFill>
                <a:latin typeface="Aptos" panose="020B0004020202020204" pitchFamily="34" charset="0"/>
              </a:rPr>
              <a:t>Delay and cancellation risk prediction</a:t>
            </a:r>
          </a:p>
        </p:txBody>
      </p: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41ABFD25-6018-42AF-E818-CE00359BEA65}"/>
              </a:ext>
            </a:extLst>
          </p:cNvPr>
          <p:cNvSpPr/>
          <p:nvPr/>
        </p:nvSpPr>
        <p:spPr>
          <a:xfrm>
            <a:off x="5108105" y="2065890"/>
            <a:ext cx="2668566" cy="1047750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Cloud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deployment</a:t>
            </a:r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 /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managed</a:t>
            </a:r>
            <a:r>
              <a:rPr lang="de-DE" dirty="0">
                <a:solidFill>
                  <a:srgbClr val="0C7D2C"/>
                </a:solidFill>
                <a:latin typeface="Aptos" panose="020B0004020202020204" pitchFamily="34" charset="0"/>
              </a:rPr>
              <a:t> </a:t>
            </a:r>
            <a:r>
              <a:rPr lang="de-DE" dirty="0" err="1">
                <a:solidFill>
                  <a:srgbClr val="0C7D2C"/>
                </a:solidFill>
                <a:latin typeface="Aptos" panose="020B0004020202020204" pitchFamily="34" charset="0"/>
              </a:rPr>
              <a:t>storage</a:t>
            </a:r>
            <a:endParaRPr lang="de-DE" dirty="0">
              <a:solidFill>
                <a:srgbClr val="0C7D2C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EBDD22-9B1B-F3BD-8E0F-CBC375AF86DE}"/>
              </a:ext>
            </a:extLst>
          </p:cNvPr>
          <p:cNvSpPr txBox="1"/>
          <p:nvPr/>
        </p:nvSpPr>
        <p:spPr>
          <a:xfrm>
            <a:off x="1066800" y="1790855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DFF5E4"/>
                </a:solidFill>
                <a:latin typeface="Aptos"/>
              </a:rPr>
              <a:t>NEXT EVOLUTION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A9E6BB-FA0C-6BD5-8EAC-CB9E4C8875B3}"/>
              </a:ext>
            </a:extLst>
          </p:cNvPr>
          <p:cNvSpPr txBox="1"/>
          <p:nvPr/>
        </p:nvSpPr>
        <p:spPr>
          <a:xfrm>
            <a:off x="2666641" y="4462436"/>
            <a:ext cx="4048125" cy="40011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r>
              <a:rPr sz="1700" b="1" dirty="0">
                <a:solidFill>
                  <a:srgbClr val="FFFFFF"/>
                </a:solidFill>
                <a:latin typeface="Aptos"/>
              </a:rPr>
              <a:t>Descriptive → </a:t>
            </a:r>
            <a:r>
              <a:rPr sz="2000" b="1" dirty="0">
                <a:solidFill>
                  <a:srgbClr val="FFFFFF"/>
                </a:solidFill>
                <a:latin typeface="Aptos"/>
              </a:rPr>
              <a:t>Diagnostic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 → </a:t>
            </a:r>
            <a:r>
              <a:rPr sz="1700" b="1" dirty="0" err="1">
                <a:solidFill>
                  <a:srgbClr val="FFFFFF"/>
                </a:solidFill>
                <a:latin typeface="Aptos"/>
              </a:rPr>
              <a:t>Predictiv</a:t>
            </a:r>
            <a:r>
              <a:rPr lang="de-DE" sz="1700" b="1" dirty="0">
                <a:solidFill>
                  <a:srgbClr val="FFFFFF"/>
                </a:solidFill>
                <a:latin typeface="Aptos"/>
              </a:rPr>
              <a:t>e</a:t>
            </a:r>
            <a:endParaRPr sz="1700" b="1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813608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theme/theme1.xml><?xml version="1.0" encoding="utf-8"?>
<a:theme xmlns:a="http://schemas.openxmlformats.org/drawingml/2006/main" name="1_Standarddesign">
  <a:themeElements>
    <a:clrScheme name="1_Standarddesign 4">
      <a:dk1>
        <a:srgbClr val="000000"/>
      </a:dk1>
      <a:lt1>
        <a:srgbClr val="FFFFFF"/>
      </a:lt1>
      <a:dk2>
        <a:srgbClr val="000000"/>
      </a:dk2>
      <a:lt2>
        <a:srgbClr val="333333"/>
      </a:lt2>
      <a:accent1>
        <a:srgbClr val="DDDDDD"/>
      </a:accent1>
      <a:accent2>
        <a:srgbClr val="808080"/>
      </a:accent2>
      <a:accent3>
        <a:srgbClr val="FFFFFF"/>
      </a:accent3>
      <a:accent4>
        <a:srgbClr val="000000"/>
      </a:accent4>
      <a:accent5>
        <a:srgbClr val="EBEBEB"/>
      </a:accent5>
      <a:accent6>
        <a:srgbClr val="737373"/>
      </a:accent6>
      <a:hlink>
        <a:srgbClr val="4D4D4D"/>
      </a:hlink>
      <a:folHlink>
        <a:srgbClr val="EAEAEA"/>
      </a:folHlink>
    </a:clrScheme>
    <a:fontScheme name="1_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1_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tandard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1_Standarddesign 4">
    <a:dk1>
      <a:srgbClr val="000000"/>
    </a:dk1>
    <a:lt1>
      <a:srgbClr val="FFFFFF"/>
    </a:lt1>
    <a:dk2>
      <a:srgbClr val="000000"/>
    </a:dk2>
    <a:lt2>
      <a:srgbClr val="333333"/>
    </a:lt2>
    <a:accent1>
      <a:srgbClr val="DDDDDD"/>
    </a:accent1>
    <a:accent2>
      <a:srgbClr val="808080"/>
    </a:accent2>
    <a:accent3>
      <a:srgbClr val="FFFFFF"/>
    </a:accent3>
    <a:accent4>
      <a:srgbClr val="000000"/>
    </a:accent4>
    <a:accent5>
      <a:srgbClr val="EBEBEB"/>
    </a:accent5>
    <a:accent6>
      <a:srgbClr val="737373"/>
    </a:accent6>
    <a:hlink>
      <a:srgbClr val="4D4D4D"/>
    </a:hlink>
    <a:folHlink>
      <a:srgbClr val="EAEAEA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aa5a65c-f4ce-4ee4-acf7-5e3b2ace5bfd">
      <Terms xmlns="http://schemas.microsoft.com/office/infopath/2007/PartnerControls"/>
    </lcf76f155ced4ddcb4097134ff3c332f>
    <TaxCatchAll xmlns="66bb7404-1a7c-4cd5-b899-503b4f4a783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CD9D0312D38F94DA02BEC0C7012E0F5" ma:contentTypeVersion="11" ma:contentTypeDescription="Create a new document." ma:contentTypeScope="" ma:versionID="9a73361d995b0bed58ef5b3962fcd148">
  <xsd:schema xmlns:xsd="http://www.w3.org/2001/XMLSchema" xmlns:xs="http://www.w3.org/2001/XMLSchema" xmlns:p="http://schemas.microsoft.com/office/2006/metadata/properties" xmlns:ns2="9aa5a65c-f4ce-4ee4-acf7-5e3b2ace5bfd" xmlns:ns3="66bb7404-1a7c-4cd5-b899-503b4f4a7830" targetNamespace="http://schemas.microsoft.com/office/2006/metadata/properties" ma:root="true" ma:fieldsID="a85bbe206d45265116e8c51ee0380a62" ns2:_="" ns3:_="">
    <xsd:import namespace="9aa5a65c-f4ce-4ee4-acf7-5e3b2ace5bfd"/>
    <xsd:import namespace="66bb7404-1a7c-4cd5-b899-503b4f4a78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a5a65c-f4ce-4ee4-acf7-5e3b2ace5b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7477ac3-f545-472d-8d20-30ed4bfec3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bb7404-1a7c-4cd5-b899-503b4f4a7830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60eb3ab-e356-4c36-b4b3-0b6a41deb75f}" ma:internalName="TaxCatchAll" ma:showField="CatchAllData" ma:web="66bb7404-1a7c-4cd5-b899-503b4f4a783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B8EBE4-FC2B-439D-83E4-1FC00013EB90}">
  <ds:schemaRefs>
    <ds:schemaRef ds:uri="http://schemas.microsoft.com/office/2006/metadata/properties"/>
    <ds:schemaRef ds:uri="http://schemas.microsoft.com/office/infopath/2007/PartnerControls"/>
    <ds:schemaRef ds:uri="9aa5a65c-f4ce-4ee4-acf7-5e3b2ace5bfd"/>
    <ds:schemaRef ds:uri="66bb7404-1a7c-4cd5-b899-503b4f4a7830"/>
  </ds:schemaRefs>
</ds:datastoreItem>
</file>

<file path=customXml/itemProps2.xml><?xml version="1.0" encoding="utf-8"?>
<ds:datastoreItem xmlns:ds="http://schemas.openxmlformats.org/officeDocument/2006/customXml" ds:itemID="{D9BC1E96-25F1-44B9-8174-507263BA1D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aa5a65c-f4ce-4ee4-acf7-5e3b2ace5bfd"/>
    <ds:schemaRef ds:uri="66bb7404-1a7c-4cd5-b899-503b4f4a78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732050-07CB-4EA1-8B62-F2C4125C0D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903</Words>
  <Application>Microsoft Office PowerPoint</Application>
  <PresentationFormat>Breitbild</PresentationFormat>
  <Paragraphs>187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5" baseType="lpstr">
      <vt:lpstr>Aptos</vt:lpstr>
      <vt:lpstr>Arial</vt:lpstr>
      <vt:lpstr>Helvetica</vt:lpstr>
      <vt:lpstr>Helvetica-Bold</vt:lpstr>
      <vt:lpstr>Lato</vt:lpstr>
      <vt:lpstr>Symbol</vt:lpstr>
      <vt:lpstr>Tahoma</vt:lpstr>
      <vt:lpstr>1_Standarddesign</vt:lpstr>
      <vt:lpstr>AIRLINE RELIABILITY DATA PIPELINE</vt:lpstr>
      <vt:lpstr>ABOUT ME &amp; PRESENTATION FOCUS</vt:lpstr>
      <vt:lpstr>MOTIVATION &amp; GOALS</vt:lpstr>
      <vt:lpstr>STAKEHOLDER PERSPECTIVE - CORPORATE TRAVEL</vt:lpstr>
      <vt:lpstr>DATA SOURCE &amp; DATA PROBLEM</vt:lpstr>
      <vt:lpstr>ENGINEERING QUESTION &amp; ARCHITECTURE</vt:lpstr>
      <vt:lpstr>INGESTION &amp; BRONZE - PRESERVE THE SOURCE</vt:lpstr>
      <vt:lpstr>SILVER &amp; DATA QUALITY - CREATE TRUST</vt:lpstr>
      <vt:lpstr>DATA MODEL &amp; GOLD MARTS</vt:lpstr>
      <vt:lpstr>AIRFLOW - FROM SCRIPTS TO PIPELINE</vt:lpstr>
      <vt:lpstr>AUTOMATED TESTING – WHEN &amp; WHY</vt:lpstr>
      <vt:lpstr>CONSUMPTION LAYER - RELIABILITY DASHBOARD</vt:lpstr>
      <vt:lpstr>PowerPoint-Präsentation</vt:lpstr>
      <vt:lpstr>PowerPoint-Präsentation</vt:lpstr>
      <vt:lpstr>PowerPoint-Präsentation</vt:lpstr>
      <vt:lpstr>RESULTS &amp; RECOMMENDATIONS</vt:lpstr>
      <vt:lpstr>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 Nadolny</dc:creator>
  <cp:lastModifiedBy>Peter Blechert</cp:lastModifiedBy>
  <cp:revision>28</cp:revision>
  <dcterms:created xsi:type="dcterms:W3CDTF">2024-02-05T11:33:07Z</dcterms:created>
  <dcterms:modified xsi:type="dcterms:W3CDTF">2026-09-03T15:47:02Z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0x0101006CD9D0312D38F94DA02BEC0C7012E0F5</vt:lpwstr>
  </property>
</Properties>
</file>