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70D82-C5C0-44CA-8A9A-050937EBC620}" v="2" dt="2026-09-02T06:29:53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311"/>
  </p:normalViewPr>
  <p:slideViewPr>
    <p:cSldViewPr snapToGrid="0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lechert" userId="d1f4340c484e6b4d" providerId="LiveId" clId="{C61B02FD-3862-4431-89D2-8A4641263688}"/>
    <pc:docChg chg="undo custSel modSld">
      <pc:chgData name="Peter Blechert" userId="d1f4340c484e6b4d" providerId="LiveId" clId="{C61B02FD-3862-4431-89D2-8A4641263688}" dt="2026-09-02T06:36:35.972" v="141" actId="1036"/>
      <pc:docMkLst>
        <pc:docMk/>
      </pc:docMkLst>
      <pc:sldChg chg="modSp mod">
        <pc:chgData name="Peter Blechert" userId="d1f4340c484e6b4d" providerId="LiveId" clId="{C61B02FD-3862-4431-89D2-8A4641263688}" dt="2026-09-02T06:13:44.222" v="1" actId="20577"/>
        <pc:sldMkLst>
          <pc:docMk/>
          <pc:sldMk cId="0" sldId="257"/>
        </pc:sldMkLst>
        <pc:spChg chg="mod">
          <ac:chgData name="Peter Blechert" userId="d1f4340c484e6b4d" providerId="LiveId" clId="{C61B02FD-3862-4431-89D2-8A4641263688}" dt="2026-09-02T06:13:44.222" v="1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3:56.907" v="94" actId="1035"/>
        <pc:sldMkLst>
          <pc:docMk/>
          <pc:sldMk cId="0" sldId="259"/>
        </pc:sldMkLst>
        <pc:spChg chg="mod">
          <ac:chgData name="Peter Blechert" userId="d1f4340c484e6b4d" providerId="LiveId" clId="{C61B02FD-3862-4431-89D2-8A4641263688}" dt="2026-09-02T06:33:56.907" v="94" actId="1035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4:24.093" v="96" actId="113"/>
        <pc:sldMkLst>
          <pc:docMk/>
          <pc:sldMk cId="0" sldId="260"/>
        </pc:sldMkLst>
        <pc:spChg chg="mod">
          <ac:chgData name="Peter Blechert" userId="d1f4340c484e6b4d" providerId="LiveId" clId="{C61B02FD-3862-4431-89D2-8A4641263688}" dt="2026-09-02T06:34:24.093" v="96" actId="113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">
        <pc:chgData name="Peter Blechert" userId="d1f4340c484e6b4d" providerId="LiveId" clId="{C61B02FD-3862-4431-89D2-8A4641263688}" dt="2026-09-02T06:28:44.215" v="48" actId="113"/>
        <pc:sldMkLst>
          <pc:docMk/>
          <pc:sldMk cId="0" sldId="262"/>
        </pc:sldMkLst>
        <pc:spChg chg="del">
          <ac:chgData name="Peter Blechert" userId="d1f4340c484e6b4d" providerId="LiveId" clId="{C61B02FD-3862-4431-89D2-8A4641263688}" dt="2026-09-02T06:28:06.584" v="44" actId="478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Peter Blechert" userId="d1f4340c484e6b4d" providerId="LiveId" clId="{C61B02FD-3862-4431-89D2-8A4641263688}" dt="2026-09-02T06:28:44.215" v="48" actId="113"/>
          <ac:spMkLst>
            <pc:docMk/>
            <pc:sldMk cId="0" sldId="262"/>
            <ac:spMk id="13" creationId="{78772B43-FDA6-02DD-C2CA-31F6F3942D82}"/>
          </ac:spMkLst>
        </pc:spChg>
      </pc:sldChg>
      <pc:sldChg chg="modSp mod">
        <pc:chgData name="Peter Blechert" userId="d1f4340c484e6b4d" providerId="LiveId" clId="{C61B02FD-3862-4431-89D2-8A4641263688}" dt="2026-09-02T06:35:00.720" v="104" actId="1036"/>
        <pc:sldMkLst>
          <pc:docMk/>
          <pc:sldMk cId="0" sldId="263"/>
        </pc:sldMkLst>
        <pc:spChg chg="mod">
          <ac:chgData name="Peter Blechert" userId="d1f4340c484e6b4d" providerId="LiveId" clId="{C61B02FD-3862-4431-89D2-8A4641263688}" dt="2026-09-02T06:35:00.720" v="104" actId="103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1:12.137" v="53" actId="255"/>
        <pc:sldMkLst>
          <pc:docMk/>
          <pc:sldMk cId="0" sldId="264"/>
        </pc:sldMkLst>
        <pc:spChg chg="mod">
          <ac:chgData name="Peter Blechert" userId="d1f4340c484e6b4d" providerId="LiveId" clId="{C61B02FD-3862-4431-89D2-8A4641263688}" dt="2026-09-02T06:31:12.137" v="53" actId="255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5:32.701" v="108" actId="1036"/>
        <pc:sldMkLst>
          <pc:docMk/>
          <pc:sldMk cId="0" sldId="265"/>
        </pc:sldMkLst>
        <pc:spChg chg="mod">
          <ac:chgData name="Peter Blechert" userId="d1f4340c484e6b4d" providerId="LiveId" clId="{C61B02FD-3862-4431-89D2-8A4641263688}" dt="2026-09-02T06:35:32.701" v="108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0:18.689" v="52" actId="113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6:07.125" v="126" actId="1036"/>
        <pc:sldMkLst>
          <pc:docMk/>
          <pc:sldMk cId="0" sldId="266"/>
        </pc:sldMkLst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28.015" v="55" actId="113"/>
          <ac:spMkLst>
            <pc:docMk/>
            <pc:sldMk cId="0" sldId="266"/>
            <ac:spMk id="11" creationId="{00000000-0000-0000-0000-000000000000}"/>
          </ac:spMkLst>
        </pc:spChg>
        <pc:picChg chg="mod">
          <ac:chgData name="Peter Blechert" userId="d1f4340c484e6b4d" providerId="LiveId" clId="{C61B02FD-3862-4431-89D2-8A4641263688}" dt="2026-09-02T06:36:07.125" v="126" actId="1036"/>
          <ac:picMkLst>
            <pc:docMk/>
            <pc:sldMk cId="0" sldId="266"/>
            <ac:picMk id="6" creationId="{00000000-0000-0000-0000-000000000000}"/>
          </ac:picMkLst>
        </pc:picChg>
      </pc:sldChg>
      <pc:sldChg chg="modSp mod">
        <pc:chgData name="Peter Blechert" userId="d1f4340c484e6b4d" providerId="LiveId" clId="{C61B02FD-3862-4431-89D2-8A4641263688}" dt="2026-09-02T06:36:35.972" v="141" actId="1036"/>
        <pc:sldMkLst>
          <pc:docMk/>
          <pc:sldMk cId="0" sldId="267"/>
        </pc:sldMkLst>
        <pc:spChg chg="mod">
          <ac:chgData name="Peter Blechert" userId="d1f4340c484e6b4d" providerId="LiveId" clId="{C61B02FD-3862-4431-89D2-8A4641263688}" dt="2026-09-02T06:36:35.972" v="141" actId="10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37.031" v="57" actId="113"/>
          <ac:spMkLst>
            <pc:docMk/>
            <pc:sldMk cId="0" sldId="267"/>
            <ac:spMk id="1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8BB7E62-6957-DF19-5386-11DB9E539C94}"/>
              </a:ext>
            </a:extLst>
          </p:cNvPr>
          <p:cNvSpPr/>
          <p:nvPr userDrawn="1"/>
        </p:nvSpPr>
        <p:spPr bwMode="auto">
          <a:xfrm>
            <a:off x="1" y="0"/>
            <a:ext cx="12192000" cy="6308608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Grafik 12" descr="Ein Bild, das Grün, Schrift, Grafiken, Screenshot enthält.&#10;&#10;Automatisch generierte Beschreibung">
            <a:extLst>
              <a:ext uri="{FF2B5EF4-FFF2-40B4-BE49-F238E27FC236}">
                <a16:creationId xmlns:a16="http://schemas.microsoft.com/office/drawing/2014/main" id="{9DD99FEB-A992-9E44-EF64-2829B67AF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703" b="36641"/>
          <a:stretch/>
        </p:blipFill>
        <p:spPr>
          <a:xfrm>
            <a:off x="9747739" y="190265"/>
            <a:ext cx="2287098" cy="63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6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09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67900" y="1556792"/>
            <a:ext cx="5656092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6312024" y="1558064"/>
            <a:ext cx="5545014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54416" y="280068"/>
            <a:ext cx="1150262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 altLang="de-DE" dirty="0"/>
              <a:t>Click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edit</a:t>
            </a:r>
            <a:r>
              <a:rPr lang="de-DE" altLang="de-DE" dirty="0"/>
              <a:t> </a:t>
            </a:r>
            <a:r>
              <a:rPr lang="de-DE" altLang="de-DE" dirty="0" err="1"/>
              <a:t>master</a:t>
            </a:r>
            <a:r>
              <a:rPr lang="de-DE" altLang="de-DE" dirty="0"/>
              <a:t> </a:t>
            </a:r>
            <a:r>
              <a:rPr lang="de-DE" altLang="de-DE" dirty="0" err="1"/>
              <a:t>titel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0591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277813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585913"/>
            <a:ext cx="11522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die Formate des Vorlagentextes zu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30" name="Text Box 13"/>
          <p:cNvSpPr txBox="1">
            <a:spLocks noChangeArrowheads="1"/>
          </p:cNvSpPr>
          <p:nvPr userDrawn="1"/>
        </p:nvSpPr>
        <p:spPr bwMode="auto">
          <a:xfrm>
            <a:off x="0" y="6281738"/>
            <a:ext cx="12192000" cy="576262"/>
          </a:xfrm>
          <a:prstGeom prst="rect">
            <a:avLst/>
          </a:prstGeom>
          <a:solidFill>
            <a:srgbClr val="0C7D2C"/>
          </a:solidFill>
          <a:ln>
            <a:noFill/>
          </a:ln>
        </p:spPr>
        <p:txBody>
          <a:bodyPr tIns="370800" bIns="262800"/>
          <a:lstStyle>
            <a:lvl1pPr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 b="1" u="sng">
              <a:latin typeface="Tahoma" panose="020B0604030504040204" pitchFamily="34" charset="0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 userDrawn="1"/>
        </p:nvSpPr>
        <p:spPr bwMode="auto">
          <a:xfrm>
            <a:off x="0" y="6453188"/>
            <a:ext cx="12192000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     </a:t>
            </a:r>
            <a:r>
              <a:rPr lang="en-GB" altLang="de-DE" sz="9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Greenbootcamps</a:t>
            </a: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GmbH</a:t>
            </a:r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	   	        	                                                                                                     				 </a:t>
            </a:r>
            <a:fld id="{F17E069C-6063-4662-AE63-E3B50100F010}" type="slidenum">
              <a:rPr lang="en-GB" altLang="de-DE" sz="9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‹Nr.›</a:t>
            </a:fld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de-DE" altLang="de-DE" sz="9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Grafik 4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E5D63919-B2BF-A73B-B76D-665DF60AFFB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72675" y="0"/>
            <a:ext cx="2079626" cy="1039813"/>
          </a:xfrm>
          <a:prstGeom prst="rect">
            <a:avLst/>
          </a:prstGeom>
        </p:spPr>
      </p:pic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C410640-8FEC-A6CF-ABA3-1FB242BC48E4}"/>
              </a:ext>
            </a:extLst>
          </p:cNvPr>
          <p:cNvCxnSpPr/>
          <p:nvPr userDrawn="1"/>
        </p:nvCxnSpPr>
        <p:spPr bwMode="auto">
          <a:xfrm>
            <a:off x="0" y="1392238"/>
            <a:ext cx="1157288" cy="0"/>
          </a:xfrm>
          <a:prstGeom prst="line">
            <a:avLst/>
          </a:prstGeom>
          <a:noFill/>
          <a:ln w="95250" cap="flat" cmpd="sng" algn="ctr">
            <a:solidFill>
              <a:srgbClr val="0C7D2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763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>
              <a:lumMod val="7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Arial" panose="020B0604020202020204" pitchFamily="34" charset="0"/>
        <a:buChar char="•"/>
        <a:defRPr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–"/>
        <a:defRPr sz="16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•"/>
        <a:defRPr sz="14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Symbol" panose="05050102010706020507" pitchFamily="18" charset="2"/>
        <a:buChar char="-"/>
        <a:defRPr sz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»"/>
        <a:defRPr sz="10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anstats.bts.gov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AIRLINE RELIABILITY</a:t>
            </a:r>
          </a:p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From raw flight operations data to reliable airline, airport and route insights</a:t>
            </a:r>
          </a:p>
          <a:p>
            <a:pPr algn="l"/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Peter Blechert · Data Engineering · 04.09.2026</a:t>
            </a:r>
          </a:p>
        </p:txBody>
      </p:sp>
      <p:pic>
        <p:nvPicPr>
          <p:cNvPr id="4" name="Picture 3" descr="8479e4db-f994-4c5c-a620-b276cb807c98.jpg"/>
          <p:cNvPicPr>
            <a:picLocks noChangeAspect="1"/>
          </p:cNvPicPr>
          <p:nvPr/>
        </p:nvPicPr>
        <p:blipFill>
          <a:blip r:embed="rId2"/>
          <a:srcRect l="19853" r="19853"/>
          <a:stretch>
            <a:fillRect/>
          </a:stretch>
        </p:blipFill>
        <p:spPr>
          <a:xfrm>
            <a:off x="9006840" y="1325880"/>
            <a:ext cx="1874519" cy="233172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ABOUT ME &amp; PRESENTATION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393192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56231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PERSONAL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324612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Data Engineering final project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Focus: realistic, complete pipeline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Job orientation: Data Engineering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Degree: Dipl.-</a:t>
            </a:r>
            <a:r>
              <a:rPr dirty="0" err="1"/>
              <a:t>Kfm</a:t>
            </a:r>
            <a:r>
              <a:rPr dirty="0"/>
              <a:t>. (FH)</a:t>
            </a:r>
          </a:p>
          <a:p>
            <a:pPr marL="1325880" indent="-1325880"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Preferred regions: Aachen / Cologne / Düsseldorf / Hamburg / Schleswig-Holstein </a:t>
            </a:r>
            <a:r>
              <a:rPr lang="de-DE" dirty="0"/>
              <a:t>/</a:t>
            </a:r>
            <a:r>
              <a:rPr dirty="0"/>
              <a:t> Remote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Contact: peter.blechert@web.de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572768"/>
            <a:ext cx="544068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1856231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PRESENTATION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67712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How can monthly raw data become a reliable data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24612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The next 15 minutes show the problem, the engineering solution, and the proof that it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MOTIVATION &amp; GOALS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TWO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617720" cy="41605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My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Build a small but complete production-like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388620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real external source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monthly ingestion and partitioning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Bronze / Silver / Gold layers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Quality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Database model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Orchestration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consumption through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508760"/>
            <a:ext cx="4617720" cy="41605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1810512"/>
            <a:ext cx="6080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Stakeholder: Corporate Travel / Travel Ops. Manager -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76272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Get trusted, comparable reliability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34640"/>
            <a:ext cx="3794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airlines are reliable?</a:t>
            </a:r>
          </a:p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airports concentrate problems?</a:t>
            </a:r>
          </a:p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routes are operationally robust?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STAKEHOLDER &amp; DECISION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Stakeholder: Corporate Travel / Travel Operations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3776"/>
            <a:ext cx="978408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58645B"/>
                </a:solidFill>
                <a:latin typeface="Aptos"/>
              </a:rPr>
              <a:t>Why this stakeholder? The result supports decisions across airline, airport and route reliability </a:t>
            </a:r>
            <a:r>
              <a:rPr lang="de-DE" sz="1900" b="1" dirty="0">
                <a:solidFill>
                  <a:srgbClr val="58645B"/>
                </a:solidFill>
                <a:latin typeface="Aptos"/>
              </a:rPr>
              <a:t>-</a:t>
            </a:r>
            <a:r>
              <a:rPr sz="1900" b="1" dirty="0">
                <a:solidFill>
                  <a:srgbClr val="58645B"/>
                </a:solidFill>
                <a:latin typeface="Aptos"/>
              </a:rPr>
              <a:t> without </a:t>
            </a:r>
            <a:r>
              <a:rPr lang="de-DE" sz="1900" b="1" dirty="0" err="1">
                <a:solidFill>
                  <a:srgbClr val="58645B"/>
                </a:solidFill>
                <a:latin typeface="Aptos"/>
              </a:rPr>
              <a:t>needing</a:t>
            </a:r>
            <a:r>
              <a:rPr sz="1900" b="1" dirty="0">
                <a:solidFill>
                  <a:srgbClr val="58645B"/>
                </a:solidFill>
                <a:latin typeface="Aptos"/>
              </a:rPr>
              <a:t> raw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Which carriers operate most reliably?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FF5E4"/>
                </a:solidFill>
                <a:latin typeface="Aptos"/>
              </a:rPr>
              <a:t>carrier selection / benchmarking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2232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Where are disruptions concentrated?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25196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FF5E4"/>
                </a:solidFill>
                <a:latin typeface="Aptos"/>
              </a:rPr>
              <a:t>connection and disruption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0104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Which connections are robust?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4251960"/>
            <a:ext cx="265176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FF5E4"/>
                </a:solidFill>
                <a:latin typeface="Aptos"/>
              </a:rPr>
              <a:t>route selection / reliability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85232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Core idea: one data product can serve several decision perspectives.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SOURCE &amp; DATA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58645B"/>
                </a:solidFill>
                <a:latin typeface="Aptos"/>
              </a:rPr>
              <a:t>Source: </a:t>
            </a:r>
            <a:r>
              <a:rPr lang="de-DE" sz="1500" b="1" dirty="0">
                <a:solidFill>
                  <a:srgbClr val="58645B"/>
                </a:solidFill>
                <a:latin typeface="Aptos"/>
              </a:rPr>
              <a:t>BTS -</a:t>
            </a:r>
            <a:r>
              <a:rPr sz="1500" b="1" dirty="0">
                <a:solidFill>
                  <a:srgbClr val="58645B"/>
                </a:solidFill>
                <a:latin typeface="Aptos"/>
              </a:rPr>
              <a:t>Bureau of Transportation Statistics (monthly On-Time Performance data)</a:t>
            </a:r>
          </a:p>
          <a:p>
            <a:r>
              <a:rPr sz="1000" dirty="0">
                <a:solidFill>
                  <a:srgbClr val="58645B"/>
                </a:solidFill>
                <a:latin typeface="Aptos"/>
                <a:hlinkClick r:id="rId2"/>
              </a:rPr>
              <a:t>https://www.transtats.bts.gov/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607,577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flight records · June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34455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5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6,131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2958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THE SOURCE 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Flight date, airline, origin and destination airport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planned and actual times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delays, cancellations, diversions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delay causes and reference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5295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IT DOESN'T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822191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quality boundary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standardized schema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analytical model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business-ready reliability metrics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reproducible monthly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ENGINEERING QUESTION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How can monthly flight data be transformed into a reliable, reproducible analytics data product?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BTS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58645B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preserve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database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232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consume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3840480"/>
            <a:ext cx="896112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4096512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Airflow orchestrates the process · Docker provides the reproducible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architecture is not a tool list - each layer answers a concrete requirement.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487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validated 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Facts &amp; Dimensions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Reliability Marts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71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Interactive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INGESTION &amp; BRONZE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PRESERVE THE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663440" cy="38404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monthly available ZIP / CSV files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reference files for airlines and airports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routes derived from flights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download only when missing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year/month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54480"/>
            <a:ext cx="4663440" cy="38404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02736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Raw ZIP / CSV remains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677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traceability to source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repeatable monthly loads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clean separation from transformation logic</a:t>
            </a:r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78772B43-FDA6-02DD-C2CA-31F6F3942D82}"/>
              </a:ext>
            </a:extLst>
          </p:cNvPr>
          <p:cNvSpPr txBox="1"/>
          <p:nvPr/>
        </p:nvSpPr>
        <p:spPr>
          <a:xfrm>
            <a:off x="822959" y="5579472"/>
            <a:ext cx="983959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600" b="1" dirty="0">
                <a:solidFill>
                  <a:srgbClr val="58645B"/>
                </a:solidFill>
                <a:latin typeface="Aptos"/>
              </a:rPr>
              <a:t>Purpose: make the source reproducible before any analytical transformation happens.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SILVER &amp; DATA QUALITY — CREATE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7036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Silver is the quality boundary of the pipeline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not just another file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required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1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0" y="2615184"/>
            <a:ext cx="2552483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date and numeric 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standardi</a:t>
            </a:r>
            <a:r>
              <a:rPr lang="de-DE" sz="1250" b="0" dirty="0">
                <a:solidFill>
                  <a:srgbClr val="FFFFFF"/>
                </a:solidFill>
                <a:latin typeface="Aptos"/>
              </a:rPr>
              <a:t>s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ation</a:t>
            </a:r>
            <a:endParaRPr sz="12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23759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airport code and route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5236" y="3611879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9828" y="37764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9828" y="41239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cancelled, diverted, delay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1355" y="3611879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5947" y="37764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Plausibility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5947" y="41239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distance and elapsed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Result: standardized Parquet data that can safely enter the analytical model.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960120" y="5550408"/>
            <a:ext cx="9326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5020"/>
                </a:solidFill>
                <a:latin typeface="Aptos"/>
              </a:rPr>
              <a:t>Parquet is a column-oriented format for efficient storage and fast analytical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MODEL &amp; GOLD MARTS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288036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04488" y="3095896"/>
            <a:ext cx="202082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fact_flight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94760" y="160020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4488" y="178308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dim_date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10896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dim_airline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94760" y="42519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8" y="443484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dim_airport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167335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83794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Airline 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90779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307238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Airport Reliability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14223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430682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Route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13248"/>
            <a:ext cx="9509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star-schema </a:t>
            </a:r>
            <a:r>
              <a:rPr sz="1600" b="1" dirty="0">
                <a:solidFill>
                  <a:srgbClr val="005020"/>
                </a:solidFill>
                <a:latin typeface="Aptos"/>
              </a:rPr>
              <a:t>model separates operational detail from business-level reliability metrics.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14900" y="22585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3255264"/>
            <a:ext cx="594360" cy="0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14900" y="36301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35040" y="2002536"/>
            <a:ext cx="1783080" cy="125272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35040" y="3236976"/>
            <a:ext cx="1783080" cy="1828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35040" y="3255264"/>
            <a:ext cx="1783080" cy="1216152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AIRFLOW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FROM SCRIPTS TO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1812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A pipeline is more than a sequence of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monthly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59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correct task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temporary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Failure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stop downstream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Quality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prevent bad data propagation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4069080" y="4983480"/>
            <a:ext cx="3474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9080" y="5056632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005020"/>
                </a:solidFill>
                <a:latin typeface="Aptos"/>
              </a:rPr>
              <a:t>▶ LIVE DEMO </a:t>
            </a:r>
            <a:r>
              <a:rPr lang="de-DE" sz="13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300" b="1" dirty="0">
                <a:solidFill>
                  <a:srgbClr val="005020"/>
                </a:solidFill>
                <a:latin typeface="Aptos"/>
              </a:rPr>
              <a:t> 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59552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Show DAG → task dependencies → retry / recovery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→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simulated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failure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endParaRPr sz="1000" b="1" dirty="0">
              <a:solidFill>
                <a:srgbClr val="58645B"/>
              </a:solidFill>
              <a:latin typeface="Aptos"/>
            </a:endParaRPr>
          </a:p>
        </p:txBody>
      </p:sp>
      <p:sp>
        <p:nvSpPr>
          <p:cNvPr id="24" name="Rounded Rectangle 17"/>
          <p:cNvSpPr/>
          <p:nvPr/>
        </p:nvSpPr>
        <p:spPr>
          <a:xfrm>
            <a:off x="7397496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8"/>
          <p:cNvSpPr txBox="1"/>
          <p:nvPr/>
        </p:nvSpPr>
        <p:spPr>
          <a:xfrm>
            <a:off x="7562088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FF5E4"/>
                </a:solidFill>
                <a:latin typeface="Aptos"/>
              </a:rPr>
              <a:t>Notification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7562088" y="3794760"/>
            <a:ext cx="25603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150" b="0" dirty="0">
                <a:solidFill>
                  <a:srgbClr val="FFFFFF"/>
                </a:solidFill>
                <a:latin typeface="Aptos"/>
              </a:rPr>
              <a:t>Alert via </a:t>
            </a:r>
            <a:r>
              <a:rPr lang="de-DE" sz="1150" dirty="0" err="1">
                <a:solidFill>
                  <a:srgbClr val="FFFFFF"/>
                </a:solidFill>
                <a:latin typeface="Aptos"/>
              </a:rPr>
              <a:t>emails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on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END-TO-END PROOF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53240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The architecture was verified as one complete process from ingestion to Gold.</a:t>
            </a:r>
          </a:p>
        </p:txBody>
      </p:sp>
      <p:pic>
        <p:nvPicPr>
          <p:cNvPr id="6" name="Picture 5" descr="template_slide2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6159"/>
            <a:ext cx="5120640" cy="28401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910440"/>
            <a:ext cx="4389120" cy="342900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166471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CONFIRMED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505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8 / 8 Airflow tasks successful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72312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607,577 fact-flight rows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12 airline Gold rows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351 airports × ARR / DEP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6,131 route Gold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05272"/>
            <a:ext cx="9601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8645B"/>
                </a:solidFill>
                <a:latin typeface="Aptos"/>
              </a:rPr>
              <a:t>This is the proof point: individual components work together as one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CONSUMPTION LAYER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RELIABILITY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8" y="1453240"/>
            <a:ext cx="10587447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The Gold layer becomes an interactive decision layer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without exposing pipeline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KPI comparison and development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departure 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&amp;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arrival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reliability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</a:t>
            </a:r>
            <a:endParaRPr lang="de-DE" sz="140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with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KPI and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comparison, map and specific-route analysis</a:t>
            </a:r>
          </a:p>
        </p:txBody>
      </p:sp>
      <p:sp>
        <p:nvSpPr>
          <p:cNvPr id="15" name="Rounded Rectangle 14">
            <a:hlinkClick r:id="rId2"/>
          </p:cNvPr>
          <p:cNvSpPr/>
          <p:nvPr/>
        </p:nvSpPr>
        <p:spPr>
          <a:xfrm>
            <a:off x="4069080" y="4809744"/>
            <a:ext cx="374903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488289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5020"/>
                </a:solidFill>
                <a:latin typeface="Aptos"/>
              </a:rPr>
              <a:t>▶ OPEN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413248"/>
            <a:ext cx="7269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Live demo: Airlines → Airports → Routes - selected interactions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500" b="1" dirty="0">
                <a:solidFill>
                  <a:srgbClr val="005020"/>
                </a:solidFill>
                <a:latin typeface="Aptos"/>
              </a:rPr>
              <a:t>RE</a:t>
            </a:r>
            <a:r>
              <a:rPr lang="de-DE" sz="2500" b="1" dirty="0">
                <a:solidFill>
                  <a:srgbClr val="005020"/>
                </a:solidFill>
                <a:latin typeface="Aptos"/>
              </a:rPr>
              <a:t>SULTS</a:t>
            </a:r>
            <a:r>
              <a:rPr sz="2500" b="1" dirty="0">
                <a:solidFill>
                  <a:srgbClr val="005020"/>
                </a:solidFill>
                <a:latin typeface="Aptos"/>
              </a:rPr>
              <a:t>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4800600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STAKEHOLDER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38862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reliable monthly KPI basis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airline, airport and route comparison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identify areas for deeper analysis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support decisions </a:t>
            </a:r>
            <a:r>
              <a:rPr lang="de-DE" dirty="0"/>
              <a:t>-</a:t>
            </a:r>
            <a:r>
              <a:rPr dirty="0"/>
              <a:t> not replace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00200"/>
            <a:ext cx="4800600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9019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NEXT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00507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Descriptive → Diagnostic → 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31720"/>
            <a:ext cx="3886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why did delays happen?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monitoring and alerting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cloud deployment / managed storage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delay and cancellation risk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28032"/>
            <a:ext cx="1123405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u="sng" dirty="0">
                <a:solidFill>
                  <a:srgbClr val="005020"/>
                </a:solidFill>
                <a:latin typeface="Aptos"/>
              </a:rPr>
              <a:t>Reliable decisions require reliable data</a:t>
            </a:r>
            <a:r>
              <a:rPr lang="de-DE" sz="4000" b="1" u="sng" dirty="0">
                <a:solidFill>
                  <a:srgbClr val="005020"/>
                </a:solidFill>
                <a:latin typeface="Aptos"/>
              </a:rPr>
              <a:t>!</a:t>
            </a:r>
            <a:endParaRPr sz="4000" b="1" u="sng" dirty="0">
              <a:solidFill>
                <a:srgbClr val="00502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tandarddesign">
  <a:themeElements>
    <a:clrScheme name="1_Standarddesign 4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5a65c-f4ce-4ee4-acf7-5e3b2ace5bfd">
      <Terms xmlns="http://schemas.microsoft.com/office/infopath/2007/PartnerControls"/>
    </lcf76f155ced4ddcb4097134ff3c332f>
    <TaxCatchAll xmlns="66bb7404-1a7c-4cd5-b899-503b4f4a783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9D0312D38F94DA02BEC0C7012E0F5" ma:contentTypeVersion="11" ma:contentTypeDescription="Create a new document." ma:contentTypeScope="" ma:versionID="9a73361d995b0bed58ef5b3962fcd148">
  <xsd:schema xmlns:xsd="http://www.w3.org/2001/XMLSchema" xmlns:xs="http://www.w3.org/2001/XMLSchema" xmlns:p="http://schemas.microsoft.com/office/2006/metadata/properties" xmlns:ns2="9aa5a65c-f4ce-4ee4-acf7-5e3b2ace5bfd" xmlns:ns3="66bb7404-1a7c-4cd5-b899-503b4f4a7830" targetNamespace="http://schemas.microsoft.com/office/2006/metadata/properties" ma:root="true" ma:fieldsID="a85bbe206d45265116e8c51ee0380a62" ns2:_="" ns3:_="">
    <xsd:import namespace="9aa5a65c-f4ce-4ee4-acf7-5e3b2ace5bfd"/>
    <xsd:import namespace="66bb7404-1a7c-4cd5-b899-503b4f4a78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5a65c-f4ce-4ee4-acf7-5e3b2ace5b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477ac3-f545-472d-8d20-30ed4bfec3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b7404-1a7c-4cd5-b899-503b4f4a783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60eb3ab-e356-4c36-b4b3-0b6a41deb75f}" ma:internalName="TaxCatchAll" ma:showField="CatchAllData" ma:web="66bb7404-1a7c-4cd5-b899-503b4f4a78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B8EBE4-FC2B-439D-83E4-1FC00013EB90}">
  <ds:schemaRefs>
    <ds:schemaRef ds:uri="http://schemas.microsoft.com/office/2006/metadata/properties"/>
    <ds:schemaRef ds:uri="http://schemas.microsoft.com/office/infopath/2007/PartnerControls"/>
    <ds:schemaRef ds:uri="9aa5a65c-f4ce-4ee4-acf7-5e3b2ace5bfd"/>
    <ds:schemaRef ds:uri="66bb7404-1a7c-4cd5-b899-503b4f4a7830"/>
  </ds:schemaRefs>
</ds:datastoreItem>
</file>

<file path=customXml/itemProps2.xml><?xml version="1.0" encoding="utf-8"?>
<ds:datastoreItem xmlns:ds="http://schemas.openxmlformats.org/officeDocument/2006/customXml" ds:itemID="{D9BC1E96-25F1-44B9-8174-507263BA1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5a65c-f4ce-4ee4-acf7-5e3b2ace5bfd"/>
    <ds:schemaRef ds:uri="66bb7404-1a7c-4cd5-b899-503b4f4a78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732050-07CB-4EA1-8B62-F2C4125C0D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880</Words>
  <Application>Microsoft Office PowerPoint</Application>
  <PresentationFormat>Breitbild</PresentationFormat>
  <Paragraphs>190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1" baseType="lpstr">
      <vt:lpstr>Aptos</vt:lpstr>
      <vt:lpstr>Arial</vt:lpstr>
      <vt:lpstr>Helvetica</vt:lpstr>
      <vt:lpstr>Helvetica-Bold</vt:lpstr>
      <vt:lpstr>Lato</vt:lpstr>
      <vt:lpstr>Symbol</vt:lpstr>
      <vt:lpstr>Tahoma</vt:lpstr>
      <vt:lpstr>1_Standarddesign</vt:lpstr>
      <vt:lpstr>AIRLINE RELIABILITY DATA PIPELINE</vt:lpstr>
      <vt:lpstr>ABOUT ME &amp; PRESENTATION FOCUS</vt:lpstr>
      <vt:lpstr>MOTIVATION &amp; GOALS - TWO PERSPECTIVES</vt:lpstr>
      <vt:lpstr>STAKEHOLDER &amp; DECISION DIMENSIONS</vt:lpstr>
      <vt:lpstr>DATA SOURCE &amp; DATA PROBLEM</vt:lpstr>
      <vt:lpstr>ENGINEERING QUESTION &amp; ARCHITECTURE</vt:lpstr>
      <vt:lpstr>INGESTION &amp; BRONZE - PRESERVE THE SOURCE</vt:lpstr>
      <vt:lpstr>SILVER &amp; DATA QUALITY — CREATE TRUST</vt:lpstr>
      <vt:lpstr>DATA MODEL &amp; GOLD MARTS</vt:lpstr>
      <vt:lpstr>AIRFLOW - FROM SCRIPTS TO PIPELINE</vt:lpstr>
      <vt:lpstr>END-TO-END PROOF - JUNE 2026</vt:lpstr>
      <vt:lpstr>CONSUMPTION LAYER - RELIABILITY DASHBOARD</vt:lpstr>
      <vt:lpstr>RESULTS &amp;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Julia Nadolny</dc:creator>
  <cp:lastModifiedBy>Peter Blechert</cp:lastModifiedBy>
  <cp:revision>7</cp:revision>
  <dcterms:created xsi:type="dcterms:W3CDTF">2024-02-05T11:33:07Z</dcterms:created>
  <dcterms:modified xsi:type="dcterms:W3CDTF">2026-09-02T08:19:34Z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0x0101006CD9D0312D38F94DA02BEC0C7012E0F5</vt:lpwstr>
  </property>
</Properties>
</file>