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9" r:id="rId15"/>
    <p:sldId id="267" r:id="rId16"/>
    <p:sldId id="268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C70D82-C5C0-44CA-8A9A-050937EBC620}" v="2" dt="2026-09-02T06:29:53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6311"/>
  </p:normalViewPr>
  <p:slideViewPr>
    <p:cSldViewPr snapToGrid="0">
      <p:cViewPr>
        <p:scale>
          <a:sx n="130" d="100"/>
          <a:sy n="130" d="100"/>
        </p:scale>
        <p:origin x="-426" y="-5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Blechert" userId="d1f4340c484e6b4d" providerId="LiveId" clId="{C61B02FD-3862-4431-89D2-8A4641263688}"/>
    <pc:docChg chg="undo custSel modSld">
      <pc:chgData name="Peter Blechert" userId="d1f4340c484e6b4d" providerId="LiveId" clId="{C61B02FD-3862-4431-89D2-8A4641263688}" dt="2026-09-02T06:36:35.972" v="141" actId="1036"/>
      <pc:docMkLst>
        <pc:docMk/>
      </pc:docMkLst>
      <pc:sldChg chg="modSp mod">
        <pc:chgData name="Peter Blechert" userId="d1f4340c484e6b4d" providerId="LiveId" clId="{C61B02FD-3862-4431-89D2-8A4641263688}" dt="2026-09-02T06:13:44.222" v="1" actId="20577"/>
        <pc:sldMkLst>
          <pc:docMk/>
          <pc:sldMk cId="0" sldId="257"/>
        </pc:sldMkLst>
        <pc:spChg chg="mod">
          <ac:chgData name="Peter Blechert" userId="d1f4340c484e6b4d" providerId="LiveId" clId="{C61B02FD-3862-4431-89D2-8A4641263688}" dt="2026-09-02T06:13:44.222" v="1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3:56.907" v="94" actId="1035"/>
        <pc:sldMkLst>
          <pc:docMk/>
          <pc:sldMk cId="0" sldId="259"/>
        </pc:sldMkLst>
        <pc:spChg chg="mod">
          <ac:chgData name="Peter Blechert" userId="d1f4340c484e6b4d" providerId="LiveId" clId="{C61B02FD-3862-4431-89D2-8A4641263688}" dt="2026-09-02T06:33:56.907" v="94" actId="1035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4:24.093" v="96" actId="113"/>
        <pc:sldMkLst>
          <pc:docMk/>
          <pc:sldMk cId="0" sldId="260"/>
        </pc:sldMkLst>
        <pc:spChg chg="mod">
          <ac:chgData name="Peter Blechert" userId="d1f4340c484e6b4d" providerId="LiveId" clId="{C61B02FD-3862-4431-89D2-8A4641263688}" dt="2026-09-02T06:34:24.093" v="96" actId="113"/>
          <ac:spMkLst>
            <pc:docMk/>
            <pc:sldMk cId="0" sldId="260"/>
            <ac:spMk id="5" creationId="{00000000-0000-0000-0000-000000000000}"/>
          </ac:spMkLst>
        </pc:spChg>
      </pc:sldChg>
      <pc:sldChg chg="addSp delSp modSp mod">
        <pc:chgData name="Peter Blechert" userId="d1f4340c484e6b4d" providerId="LiveId" clId="{C61B02FD-3862-4431-89D2-8A4641263688}" dt="2026-09-02T06:28:44.215" v="48" actId="113"/>
        <pc:sldMkLst>
          <pc:docMk/>
          <pc:sldMk cId="0" sldId="262"/>
        </pc:sldMkLst>
        <pc:spChg chg="del">
          <ac:chgData name="Peter Blechert" userId="d1f4340c484e6b4d" providerId="LiveId" clId="{C61B02FD-3862-4431-89D2-8A4641263688}" dt="2026-09-02T06:28:06.584" v="44" actId="478"/>
          <ac:spMkLst>
            <pc:docMk/>
            <pc:sldMk cId="0" sldId="262"/>
            <ac:spMk id="12" creationId="{00000000-0000-0000-0000-000000000000}"/>
          </ac:spMkLst>
        </pc:spChg>
        <pc:spChg chg="add mod">
          <ac:chgData name="Peter Blechert" userId="d1f4340c484e6b4d" providerId="LiveId" clId="{C61B02FD-3862-4431-89D2-8A4641263688}" dt="2026-09-02T06:28:44.215" v="48" actId="113"/>
          <ac:spMkLst>
            <pc:docMk/>
            <pc:sldMk cId="0" sldId="262"/>
            <ac:spMk id="13" creationId="{78772B43-FDA6-02DD-C2CA-31F6F3942D82}"/>
          </ac:spMkLst>
        </pc:spChg>
      </pc:sldChg>
      <pc:sldChg chg="modSp mod">
        <pc:chgData name="Peter Blechert" userId="d1f4340c484e6b4d" providerId="LiveId" clId="{C61B02FD-3862-4431-89D2-8A4641263688}" dt="2026-09-02T06:35:00.720" v="104" actId="1036"/>
        <pc:sldMkLst>
          <pc:docMk/>
          <pc:sldMk cId="0" sldId="263"/>
        </pc:sldMkLst>
        <pc:spChg chg="mod">
          <ac:chgData name="Peter Blechert" userId="d1f4340c484e6b4d" providerId="LiveId" clId="{C61B02FD-3862-4431-89D2-8A4641263688}" dt="2026-09-02T06:35:00.720" v="104" actId="1036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1:12.137" v="53" actId="255"/>
        <pc:sldMkLst>
          <pc:docMk/>
          <pc:sldMk cId="0" sldId="264"/>
        </pc:sldMkLst>
        <pc:spChg chg="mod">
          <ac:chgData name="Peter Blechert" userId="d1f4340c484e6b4d" providerId="LiveId" clId="{C61B02FD-3862-4431-89D2-8A4641263688}" dt="2026-09-02T06:31:12.137" v="53" actId="255"/>
          <ac:spMkLst>
            <pc:docMk/>
            <pc:sldMk cId="0" sldId="264"/>
            <ac:spMk id="25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5:32.701" v="108" actId="1036"/>
        <pc:sldMkLst>
          <pc:docMk/>
          <pc:sldMk cId="0" sldId="265"/>
        </pc:sldMkLst>
        <pc:spChg chg="mod">
          <ac:chgData name="Peter Blechert" userId="d1f4340c484e6b4d" providerId="LiveId" clId="{C61B02FD-3862-4431-89D2-8A4641263688}" dt="2026-09-02T06:35:32.701" v="108" actId="1036"/>
          <ac:spMkLst>
            <pc:docMk/>
            <pc:sldMk cId="0" sldId="265"/>
            <ac:spMk id="5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0:18.689" v="52" actId="113"/>
          <ac:spMkLst>
            <pc:docMk/>
            <pc:sldMk cId="0" sldId="265"/>
            <ac:spMk id="23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6:07.125" v="126" actId="1036"/>
        <pc:sldMkLst>
          <pc:docMk/>
          <pc:sldMk cId="0" sldId="266"/>
        </pc:sldMkLst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5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7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8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9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1:28.015" v="55" actId="113"/>
          <ac:spMkLst>
            <pc:docMk/>
            <pc:sldMk cId="0" sldId="266"/>
            <ac:spMk id="11" creationId="{00000000-0000-0000-0000-000000000000}"/>
          </ac:spMkLst>
        </pc:spChg>
        <pc:picChg chg="mod">
          <ac:chgData name="Peter Blechert" userId="d1f4340c484e6b4d" providerId="LiveId" clId="{C61B02FD-3862-4431-89D2-8A4641263688}" dt="2026-09-02T06:36:07.125" v="126" actId="1036"/>
          <ac:picMkLst>
            <pc:docMk/>
            <pc:sldMk cId="0" sldId="266"/>
            <ac:picMk id="6" creationId="{00000000-0000-0000-0000-000000000000}"/>
          </ac:picMkLst>
        </pc:picChg>
      </pc:sldChg>
      <pc:sldChg chg="modSp mod">
        <pc:chgData name="Peter Blechert" userId="d1f4340c484e6b4d" providerId="LiveId" clId="{C61B02FD-3862-4431-89D2-8A4641263688}" dt="2026-09-02T06:36:35.972" v="141" actId="1036"/>
        <pc:sldMkLst>
          <pc:docMk/>
          <pc:sldMk cId="0" sldId="267"/>
        </pc:sldMkLst>
        <pc:spChg chg="mod">
          <ac:chgData name="Peter Blechert" userId="d1f4340c484e6b4d" providerId="LiveId" clId="{C61B02FD-3862-4431-89D2-8A4641263688}" dt="2026-09-02T06:36:35.972" v="141" actId="1036"/>
          <ac:spMkLst>
            <pc:docMk/>
            <pc:sldMk cId="0" sldId="267"/>
            <ac:spMk id="5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1:37.031" v="57" actId="113"/>
          <ac:spMkLst>
            <pc:docMk/>
            <pc:sldMk cId="0" sldId="267"/>
            <ac:spMk id="1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58BB7E62-6957-DF19-5386-11DB9E539C94}"/>
              </a:ext>
            </a:extLst>
          </p:cNvPr>
          <p:cNvSpPr/>
          <p:nvPr userDrawn="1"/>
        </p:nvSpPr>
        <p:spPr bwMode="auto">
          <a:xfrm>
            <a:off x="1" y="0"/>
            <a:ext cx="12192000" cy="6308608"/>
          </a:xfrm>
          <a:prstGeom prst="rect">
            <a:avLst/>
          </a:prstGeom>
          <a:solidFill>
            <a:srgbClr val="0C7D2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3" name="Grafik 12" descr="Ein Bild, das Grün, Schrift, Grafiken, Screenshot enthält.&#10;&#10;Automatisch generierte Beschreibung">
            <a:extLst>
              <a:ext uri="{FF2B5EF4-FFF2-40B4-BE49-F238E27FC236}">
                <a16:creationId xmlns:a16="http://schemas.microsoft.com/office/drawing/2014/main" id="{9DD99FEB-A992-9E44-EF64-2829B67AF5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5703" b="36641"/>
          <a:stretch/>
        </p:blipFill>
        <p:spPr>
          <a:xfrm>
            <a:off x="9747739" y="190265"/>
            <a:ext cx="2287098" cy="63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6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34951"/>
            <a:ext cx="11522075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9096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67900" y="1556792"/>
            <a:ext cx="5656092" cy="4114800"/>
          </a:xfrm>
        </p:spPr>
        <p:txBody>
          <a:bodyPr/>
          <a:lstStyle>
            <a:lvl1pPr>
              <a:defRPr sz="20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  <a:lvl2pPr>
              <a:defRPr sz="18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2pPr>
            <a:lvl3pPr>
              <a:defRPr sz="16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3pPr>
            <a:lvl4pPr>
              <a:defRPr sz="14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sz="half" idx="10"/>
          </p:nvPr>
        </p:nvSpPr>
        <p:spPr>
          <a:xfrm>
            <a:off x="6312024" y="1558064"/>
            <a:ext cx="5545014" cy="4114800"/>
          </a:xfrm>
        </p:spPr>
        <p:txBody>
          <a:bodyPr/>
          <a:lstStyle>
            <a:lvl1pPr>
              <a:defRPr sz="20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  <a:lvl2pPr>
              <a:defRPr sz="18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2pPr>
            <a:lvl3pPr>
              <a:defRPr sz="16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3pPr>
            <a:lvl4pPr>
              <a:defRPr sz="14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54416" y="280068"/>
            <a:ext cx="1150262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de-DE" altLang="de-DE" dirty="0"/>
              <a:t>Click </a:t>
            </a:r>
            <a:r>
              <a:rPr lang="de-DE" altLang="de-DE" dirty="0" err="1"/>
              <a:t>to</a:t>
            </a:r>
            <a:r>
              <a:rPr lang="de-DE" altLang="de-DE" dirty="0"/>
              <a:t> </a:t>
            </a:r>
            <a:r>
              <a:rPr lang="de-DE" altLang="de-DE" dirty="0" err="1"/>
              <a:t>edit</a:t>
            </a:r>
            <a:r>
              <a:rPr lang="de-DE" altLang="de-DE" dirty="0"/>
              <a:t> </a:t>
            </a:r>
            <a:r>
              <a:rPr lang="de-DE" altLang="de-DE" dirty="0" err="1"/>
              <a:t>master</a:t>
            </a:r>
            <a:r>
              <a:rPr lang="de-DE" altLang="de-DE" dirty="0"/>
              <a:t> </a:t>
            </a:r>
            <a:r>
              <a:rPr lang="de-DE" altLang="de-DE" dirty="0" err="1"/>
              <a:t>titel</a:t>
            </a: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605918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769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4963" y="277813"/>
            <a:ext cx="115220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3" y="1585913"/>
            <a:ext cx="115220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Klicken Sie, um die Formate des Vorlagentextes zu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30" name="Text Box 13"/>
          <p:cNvSpPr txBox="1">
            <a:spLocks noChangeArrowheads="1"/>
          </p:cNvSpPr>
          <p:nvPr userDrawn="1"/>
        </p:nvSpPr>
        <p:spPr bwMode="auto">
          <a:xfrm>
            <a:off x="0" y="6281738"/>
            <a:ext cx="12192000" cy="576262"/>
          </a:xfrm>
          <a:prstGeom prst="rect">
            <a:avLst/>
          </a:prstGeom>
          <a:solidFill>
            <a:srgbClr val="0C7D2C"/>
          </a:solidFill>
          <a:ln>
            <a:noFill/>
          </a:ln>
        </p:spPr>
        <p:txBody>
          <a:bodyPr tIns="370800" bIns="262800"/>
          <a:lstStyle>
            <a:lvl1pPr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de-DE" altLang="de-DE" b="1" u="sng">
              <a:latin typeface="Tahoma" panose="020B0604030504040204" pitchFamily="34" charset="0"/>
            </a:endParaRPr>
          </a:p>
        </p:txBody>
      </p:sp>
      <p:sp>
        <p:nvSpPr>
          <p:cNvPr id="12" name="Text Box 23"/>
          <p:cNvSpPr txBox="1">
            <a:spLocks noChangeArrowheads="1"/>
          </p:cNvSpPr>
          <p:nvPr userDrawn="1"/>
        </p:nvSpPr>
        <p:spPr bwMode="auto">
          <a:xfrm>
            <a:off x="0" y="6453188"/>
            <a:ext cx="12192000" cy="23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de-DE" sz="9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      </a:t>
            </a:r>
            <a:r>
              <a:rPr lang="en-GB" altLang="de-DE" sz="9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Greenbootcamps</a:t>
            </a:r>
            <a:r>
              <a:rPr lang="en-GB" altLang="de-DE" sz="9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GmbH</a:t>
            </a:r>
            <a:r>
              <a:rPr lang="en-GB" altLang="de-DE" sz="9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	   	        	                                                                                                     				 </a:t>
            </a:r>
            <a:fld id="{F17E069C-6063-4662-AE63-E3B50100F010}" type="slidenum">
              <a:rPr lang="en-GB" altLang="de-DE" sz="90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‹Nr.›</a:t>
            </a:fld>
            <a:r>
              <a:rPr lang="en-GB" altLang="de-DE" sz="9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</a:t>
            </a:r>
            <a:endParaRPr lang="de-DE" altLang="de-DE" sz="9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Grafik 4" descr="Ein Bild, das Grafiken, Schrift, Grafikdesign, Screenshot enthält.&#10;&#10;Automatisch generierte Beschreibung">
            <a:extLst>
              <a:ext uri="{FF2B5EF4-FFF2-40B4-BE49-F238E27FC236}">
                <a16:creationId xmlns:a16="http://schemas.microsoft.com/office/drawing/2014/main" id="{E5D63919-B2BF-A73B-B76D-665DF60AFFB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972675" y="0"/>
            <a:ext cx="2079626" cy="1039813"/>
          </a:xfrm>
          <a:prstGeom prst="rect">
            <a:avLst/>
          </a:prstGeom>
        </p:spPr>
      </p:pic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9C410640-8FEC-A6CF-ABA3-1FB242BC48E4}"/>
              </a:ext>
            </a:extLst>
          </p:cNvPr>
          <p:cNvCxnSpPr/>
          <p:nvPr userDrawn="1"/>
        </p:nvCxnSpPr>
        <p:spPr bwMode="auto">
          <a:xfrm>
            <a:off x="0" y="1392238"/>
            <a:ext cx="1157288" cy="0"/>
          </a:xfrm>
          <a:prstGeom prst="line">
            <a:avLst/>
          </a:prstGeom>
          <a:noFill/>
          <a:ln w="95250" cap="flat" cmpd="sng" algn="ctr">
            <a:solidFill>
              <a:srgbClr val="0C7D2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47630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>
              <a:lumMod val="7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Font typeface="Arial" panose="020B0604020202020204" pitchFamily="34" charset="0"/>
        <a:buChar char="•"/>
        <a:defRPr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–"/>
        <a:defRPr sz="16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•"/>
        <a:defRPr sz="14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Font typeface="Symbol" panose="05050102010706020507" pitchFamily="18" charset="2"/>
        <a:buChar char="-"/>
        <a:defRPr sz="12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»"/>
        <a:defRPr sz="10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ranstats.bts.gov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501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anchor="t"/>
          <a:lstStyle/>
          <a:p>
            <a:pPr algn="l"/>
            <a:r>
              <a:rPr sz="3300" b="1">
                <a:solidFill>
                  <a:srgbClr val="FFFFFF"/>
                </a:solidFill>
                <a:latin typeface="Aptos"/>
              </a:rPr>
              <a:t>AIRLINE RELIABILITY</a:t>
            </a:r>
          </a:p>
          <a:p>
            <a:pPr algn="l"/>
            <a:r>
              <a:rPr sz="3300" b="1">
                <a:solidFill>
                  <a:srgbClr val="FFFFFF"/>
                </a:solidFill>
                <a:latin typeface="Aptos"/>
              </a:rPr>
              <a:t>DATA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anchor="t"/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From raw flight operations data to reliable airline, airport and route insights</a:t>
            </a:r>
          </a:p>
          <a:p>
            <a:pPr algn="l"/>
            <a:endParaRPr sz="17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Peter Blechert · Data Engineering · 04.09.2026</a:t>
            </a:r>
          </a:p>
        </p:txBody>
      </p:sp>
      <p:pic>
        <p:nvPicPr>
          <p:cNvPr id="4" name="Picture 3" descr="8479e4db-f994-4c5c-a620-b276cb807c98.jpg"/>
          <p:cNvPicPr>
            <a:picLocks noChangeAspect="1"/>
          </p:cNvPicPr>
          <p:nvPr/>
        </p:nvPicPr>
        <p:blipFill>
          <a:blip r:embed="rId2"/>
          <a:srcRect l="19853" r="19853"/>
          <a:stretch>
            <a:fillRect/>
          </a:stretch>
        </p:blipFill>
        <p:spPr>
          <a:xfrm>
            <a:off x="9006840" y="1325880"/>
            <a:ext cx="1874519" cy="233172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ABOUT ME &amp; PRESENTATION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72768"/>
            <a:ext cx="3931920" cy="36118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856231"/>
            <a:ext cx="2651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PERSONAL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40280"/>
            <a:ext cx="324612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Data Engineering final project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Focus: realistic, complete pipeline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Job orientation: Data Engineering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Degree: Dipl.-</a:t>
            </a:r>
            <a:r>
              <a:rPr dirty="0" err="1"/>
              <a:t>Kfm</a:t>
            </a:r>
            <a:r>
              <a:rPr dirty="0"/>
              <a:t>. (FH)</a:t>
            </a:r>
          </a:p>
          <a:p>
            <a:pPr marL="1325880" indent="-1325880"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Preferred regions: Aachen / Cologne / Düsseldorf / Hamburg / Schleswig-Holstein </a:t>
            </a:r>
            <a:r>
              <a:rPr lang="de-DE" dirty="0"/>
              <a:t>/</a:t>
            </a:r>
            <a:r>
              <a:rPr dirty="0"/>
              <a:t> Remote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Contact: peter.blechert@web.de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572768"/>
            <a:ext cx="5440680" cy="36118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49240" y="1856231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PRESENTATION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267712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How can monthly raw data become a reliable data product?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24612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The next 15 minutes show the problem, the engineering solution, and the proof that it 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MOTIVATION &amp; GOALS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TWO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4617720" cy="41605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10512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My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76272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Build a small but complete production-like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3886200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real external source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monthly ingestion and partitioning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Bronze / Silver / Gold layers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Data Quality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Database model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Orchestration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Data consumption through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508760"/>
            <a:ext cx="4617720" cy="41605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89320" y="1810512"/>
            <a:ext cx="6080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Stakeholder: Corporate Travel / Travel Ops. Manager -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176272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Get trusted, comparable reliability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834640"/>
            <a:ext cx="3794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Which airlines are reliable?</a:t>
            </a:r>
          </a:p>
          <a:p>
            <a:pPr>
              <a:spcAft>
                <a:spcPts val="7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Which airports concentrate problems?</a:t>
            </a:r>
          </a:p>
          <a:p>
            <a:pPr>
              <a:spcAft>
                <a:spcPts val="7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Which routes are operationally robust?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STAKEHOLDER &amp; DECISION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Stakeholder: Corporate Travel / Travel Operations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43776"/>
            <a:ext cx="9784080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58645B"/>
                </a:solidFill>
                <a:latin typeface="Aptos"/>
              </a:rPr>
              <a:t>Why this stakeholder? The result supports decisions across airline, airport and route reliability </a:t>
            </a:r>
            <a:r>
              <a:rPr lang="de-DE" sz="1900" b="1" dirty="0">
                <a:solidFill>
                  <a:srgbClr val="58645B"/>
                </a:solidFill>
                <a:latin typeface="Aptos"/>
              </a:rPr>
              <a:t>-</a:t>
            </a:r>
            <a:r>
              <a:rPr sz="1900" b="1" dirty="0">
                <a:solidFill>
                  <a:srgbClr val="58645B"/>
                </a:solidFill>
                <a:latin typeface="Aptos"/>
              </a:rPr>
              <a:t> without </a:t>
            </a:r>
            <a:r>
              <a:rPr lang="de-DE" sz="1900" b="1" dirty="0" err="1">
                <a:solidFill>
                  <a:srgbClr val="58645B"/>
                </a:solidFill>
                <a:latin typeface="Aptos"/>
              </a:rPr>
              <a:t>needing</a:t>
            </a:r>
            <a:r>
              <a:rPr sz="1900" b="1" dirty="0">
                <a:solidFill>
                  <a:srgbClr val="58645B"/>
                </a:solidFill>
                <a:latin typeface="Aptos"/>
              </a:rPr>
              <a:t> raw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06040"/>
            <a:ext cx="2971800" cy="23317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8529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FF5E4"/>
                </a:solidFill>
                <a:latin typeface="Aptos"/>
              </a:rPr>
              <a:t>AIRLINES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Which carriers operate most reliably?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2514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DFF5E4"/>
                </a:solidFill>
                <a:latin typeface="Aptos"/>
              </a:rPr>
              <a:t>carrier selection / benchmarking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42232" y="2606040"/>
            <a:ext cx="2971800" cy="23317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28529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FF5E4"/>
                </a:solidFill>
                <a:latin typeface="Aptos"/>
              </a:rPr>
              <a:t>AIRPORTS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338328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Where are disruptions concentrated?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4251960"/>
            <a:ext cx="2514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dirty="0">
                <a:solidFill>
                  <a:srgbClr val="DFF5E4"/>
                </a:solidFill>
                <a:latin typeface="Aptos"/>
              </a:rPr>
              <a:t>connection and disruption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7224" y="2606040"/>
            <a:ext cx="2971800" cy="23317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90104" y="28529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FF5E4"/>
                </a:solidFill>
                <a:latin typeface="Aptos"/>
              </a:rPr>
              <a:t>ROUTES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35824" y="338328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Which connections are robust?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4251960"/>
            <a:ext cx="265176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dirty="0">
                <a:solidFill>
                  <a:srgbClr val="DFF5E4"/>
                </a:solidFill>
                <a:latin typeface="Aptos"/>
              </a:rPr>
              <a:t>route selection / reliability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85232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Core idea: one data product can serve several decision perspectives.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DATA SOURCE &amp; DATA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98755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58645B"/>
                </a:solidFill>
                <a:latin typeface="Aptos"/>
              </a:rPr>
              <a:t>Source: </a:t>
            </a:r>
            <a:r>
              <a:rPr lang="de-DE" sz="1500" b="1" dirty="0">
                <a:solidFill>
                  <a:srgbClr val="58645B"/>
                </a:solidFill>
                <a:latin typeface="Aptos"/>
              </a:rPr>
              <a:t>BTS -</a:t>
            </a:r>
            <a:r>
              <a:rPr sz="1500" b="1" dirty="0">
                <a:solidFill>
                  <a:srgbClr val="58645B"/>
                </a:solidFill>
                <a:latin typeface="Aptos"/>
              </a:rPr>
              <a:t>Bureau of Transportation Statistics (monthly On-Time Performance data)</a:t>
            </a:r>
          </a:p>
          <a:p>
            <a:r>
              <a:rPr sz="1000" dirty="0">
                <a:solidFill>
                  <a:srgbClr val="58645B"/>
                </a:solidFill>
                <a:latin typeface="Aptos"/>
                <a:hlinkClick r:id="rId2"/>
              </a:rPr>
              <a:t>https://www.transtats.bts.gov/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2066543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607,577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468880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flight records · June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965960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9856" y="2066543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468880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airlines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965960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34455" y="2066543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351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4455" y="2468880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airports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965960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2066543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6,131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468880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routes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73551"/>
            <a:ext cx="4846320" cy="2167129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52958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WHAT THE SOURCE CONTAINS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4160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Flight date, airline, origin and destination airport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planned and actual times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delays, cancellations, diversions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delay causes and reference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3273551"/>
            <a:ext cx="4846320" cy="2167129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3529584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WHAT IT DOESN'T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822191"/>
            <a:ext cx="4160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quality boundary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standardized schema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analytical model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business-ready reliability metrics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reproducible monthly 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ENGINEERING QUESTION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How can monthly flight data be transformed into a reliable, reproducible analytics data product?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005020"/>
                </a:solidFill>
                <a:latin typeface="Aptos"/>
              </a:rPr>
              <a:t>BTS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dirty="0">
                <a:solidFill>
                  <a:srgbClr val="58645B"/>
                </a:solidFill>
                <a:latin typeface="Aptos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6543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0487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BRONZE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preserve 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9624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7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87951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SILVER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1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2703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1616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71031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1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database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3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9924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5411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8232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3719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STREAMLIT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consume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3840480"/>
            <a:ext cx="896112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08760" y="4096512"/>
            <a:ext cx="8412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Airflow orchestrates the process · Docker provides the reproducible runtime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212080"/>
            <a:ext cx="9875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The architecture is not a tool list - each layer answers a concrete requirement.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ZIP / 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0487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ZIP / 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7951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validated Parquet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71031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Facts &amp; Dimensions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11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Reliability Marts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719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Interactive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INGESTION &amp; BRONZE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PRESERVE THE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4663440" cy="38404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56231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67712"/>
            <a:ext cx="3931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monthly available ZIP / CSV files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reference files for airlines and airports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routes derived from flights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download only when missing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year/month partitioning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554480"/>
            <a:ext cx="4663440" cy="38404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89320" y="1856231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BRONZE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02736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Raw ZIP / CSV remains unchanged.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267712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traceability to source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repeatable monthly loads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clean separation from transformation logic</a:t>
            </a:r>
          </a:p>
        </p:txBody>
      </p:sp>
      <p:sp>
        <p:nvSpPr>
          <p:cNvPr id="13" name="TextBox 30">
            <a:extLst>
              <a:ext uri="{FF2B5EF4-FFF2-40B4-BE49-F238E27FC236}">
                <a16:creationId xmlns:a16="http://schemas.microsoft.com/office/drawing/2014/main" id="{78772B43-FDA6-02DD-C2CA-31F6F3942D82}"/>
              </a:ext>
            </a:extLst>
          </p:cNvPr>
          <p:cNvSpPr txBox="1"/>
          <p:nvPr/>
        </p:nvSpPr>
        <p:spPr>
          <a:xfrm>
            <a:off x="822959" y="5579472"/>
            <a:ext cx="983959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600" b="1" dirty="0">
                <a:solidFill>
                  <a:srgbClr val="58645B"/>
                </a:solidFill>
                <a:latin typeface="Aptos"/>
              </a:rPr>
              <a:t>Purpose: make the source reproducible before any analytical transformation happens.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SILVER &amp; DATA QUALITY — CREATE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47036"/>
            <a:ext cx="98755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Silver is the quality boundary of the pipeline </a:t>
            </a:r>
            <a:r>
              <a:rPr lang="de-DE" sz="19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1900" b="1" dirty="0">
                <a:solidFill>
                  <a:srgbClr val="005020"/>
                </a:solidFill>
                <a:latin typeface="Aptos"/>
              </a:rPr>
              <a:t> not just another file format.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267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1518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required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2103120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42231" y="2267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2230" y="2615184"/>
            <a:ext cx="2552483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FFFFFF"/>
                </a:solidFill>
                <a:latin typeface="Aptos"/>
              </a:rPr>
              <a:t>date and numeric </a:t>
            </a:r>
            <a:r>
              <a:rPr sz="1250" b="0" dirty="0" err="1">
                <a:solidFill>
                  <a:srgbClr val="FFFFFF"/>
                </a:solidFill>
                <a:latin typeface="Aptos"/>
              </a:rPr>
              <a:t>standardi</a:t>
            </a:r>
            <a:r>
              <a:rPr lang="de-DE" sz="1250" b="0" dirty="0">
                <a:solidFill>
                  <a:srgbClr val="FFFFFF"/>
                </a:solidFill>
                <a:latin typeface="Aptos"/>
              </a:rPr>
              <a:t>s</a:t>
            </a:r>
            <a:r>
              <a:rPr sz="1250" b="0" dirty="0" err="1">
                <a:solidFill>
                  <a:srgbClr val="FFFFFF"/>
                </a:solidFill>
                <a:latin typeface="Aptos"/>
              </a:rPr>
              <a:t>ation</a:t>
            </a:r>
            <a:endParaRPr sz="12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223759" y="2103120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88352" y="2267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261518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airport code and route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5236" y="3611879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99828" y="377647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Flags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9828" y="412394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cancelled, diverted, delay flags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81355" y="3611879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45947" y="377647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Plausibility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5947" y="412394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distance and elapsed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257800"/>
            <a:ext cx="9326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Result: standardized Parquet data that can safely enter the analytical model.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960120" y="5550408"/>
            <a:ext cx="9326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5020"/>
                </a:solidFill>
                <a:latin typeface="Aptos"/>
              </a:rPr>
              <a:t>Parquet is a column-oriented format for efficient storage and fast analytical queries.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DATA MODEL &amp; GOLD MARTS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2880360"/>
            <a:ext cx="2240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04488" y="3095896"/>
            <a:ext cx="2020824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fact_flight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94760" y="160020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04488" y="1783080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dim_date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60120" y="292608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3108960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dim_airline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94760" y="425196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04488" y="4434840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dim_airport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818120" y="167335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1837944"/>
            <a:ext cx="2468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5020"/>
                </a:solidFill>
                <a:latin typeface="Aptos"/>
              </a:rPr>
              <a:t>Gold Airline Reliability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290779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0" y="3072384"/>
            <a:ext cx="2468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5020"/>
                </a:solidFill>
                <a:latin typeface="Aptos"/>
              </a:rPr>
              <a:t>Gold Airport Reliability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414223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0" y="4306824"/>
            <a:ext cx="2468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5020"/>
                </a:solidFill>
                <a:latin typeface="Aptos"/>
              </a:rPr>
              <a:t>Gold Route Reliability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413248"/>
            <a:ext cx="95097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The </a:t>
            </a:r>
            <a:r>
              <a:rPr lang="de-DE" sz="1600" b="1" dirty="0">
                <a:solidFill>
                  <a:srgbClr val="005020"/>
                </a:solidFill>
                <a:latin typeface="Aptos"/>
              </a:rPr>
              <a:t>star-schema </a:t>
            </a:r>
            <a:r>
              <a:rPr sz="1600" b="1" dirty="0">
                <a:solidFill>
                  <a:srgbClr val="005020"/>
                </a:solidFill>
                <a:latin typeface="Aptos"/>
              </a:rPr>
              <a:t>model separates operational detail from business-level reliability metrics.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14900" y="2258568"/>
            <a:ext cx="0" cy="621792"/>
          </a:xfrm>
          <a:prstGeom prst="line">
            <a:avLst/>
          </a:prstGeom>
          <a:ln w="20320">
            <a:solidFill>
              <a:srgbClr val="0A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00400" y="3255264"/>
            <a:ext cx="594360" cy="0"/>
          </a:xfrm>
          <a:prstGeom prst="line">
            <a:avLst/>
          </a:prstGeom>
          <a:ln w="20320">
            <a:solidFill>
              <a:srgbClr val="0A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914900" y="3630168"/>
            <a:ext cx="0" cy="621792"/>
          </a:xfrm>
          <a:prstGeom prst="line">
            <a:avLst/>
          </a:prstGeom>
          <a:ln w="20320">
            <a:solidFill>
              <a:srgbClr val="0A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035040" y="2002536"/>
            <a:ext cx="1783080" cy="1252728"/>
          </a:xfrm>
          <a:prstGeom prst="line">
            <a:avLst/>
          </a:prstGeom>
          <a:ln w="25400">
            <a:solidFill>
              <a:srgbClr val="0A7A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035040" y="3236976"/>
            <a:ext cx="1783080" cy="18288"/>
          </a:xfrm>
          <a:prstGeom prst="line">
            <a:avLst/>
          </a:prstGeom>
          <a:ln w="25400">
            <a:solidFill>
              <a:srgbClr val="0A7A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35040" y="3255264"/>
            <a:ext cx="1783080" cy="1216152"/>
          </a:xfrm>
          <a:prstGeom prst="line">
            <a:avLst/>
          </a:prstGeom>
          <a:ln w="25400">
            <a:solidFill>
              <a:srgbClr val="0A7A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AIRFLOW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FROM SCRIPTS TO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41812"/>
            <a:ext cx="98755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A pipeline is more than a sequence of scripts.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20370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5146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monthly 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87368" y="205740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1959" y="220370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Dependencies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25146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correct task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7496" y="205740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62088" y="220370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Retries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5146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temporary 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3756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48386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Failure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79476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stop downstream tasks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87368" y="333756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60" y="348386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Quality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79476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prevent bad data propagation</a:t>
            </a:r>
          </a:p>
        </p:txBody>
      </p:sp>
      <p:sp>
        <p:nvSpPr>
          <p:cNvPr id="21" name="Rounded Rectangle 20">
            <a:hlinkClick r:id="rId2"/>
          </p:cNvPr>
          <p:cNvSpPr/>
          <p:nvPr/>
        </p:nvSpPr>
        <p:spPr>
          <a:xfrm>
            <a:off x="4069080" y="4983480"/>
            <a:ext cx="34747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69080" y="5056632"/>
            <a:ext cx="34747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005020"/>
                </a:solidFill>
                <a:latin typeface="Aptos"/>
              </a:rPr>
              <a:t>▶ LIVE DEMO </a:t>
            </a:r>
            <a:r>
              <a:rPr lang="de-DE" sz="13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1300" b="1" dirty="0">
                <a:solidFill>
                  <a:srgbClr val="005020"/>
                </a:solidFill>
                <a:latin typeface="Aptos"/>
              </a:rPr>
              <a:t> AIRFLOW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559552"/>
            <a:ext cx="63093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58645B"/>
                </a:solidFill>
                <a:latin typeface="Aptos"/>
              </a:rPr>
              <a:t>Show DAG → task dependencies → retry / recovery</a:t>
            </a:r>
            <a:r>
              <a:rPr lang="de-DE" sz="1000" b="1" dirty="0">
                <a:solidFill>
                  <a:srgbClr val="58645B"/>
                </a:solidFill>
                <a:latin typeface="Aptos"/>
              </a:rPr>
              <a:t> → </a:t>
            </a:r>
            <a:r>
              <a:rPr lang="de-DE" sz="1000" b="1" dirty="0" err="1">
                <a:solidFill>
                  <a:srgbClr val="58645B"/>
                </a:solidFill>
                <a:latin typeface="Aptos"/>
              </a:rPr>
              <a:t>simulated</a:t>
            </a:r>
            <a:r>
              <a:rPr lang="de-DE" sz="1000" b="1" dirty="0">
                <a:solidFill>
                  <a:srgbClr val="58645B"/>
                </a:solidFill>
                <a:latin typeface="Aptos"/>
              </a:rPr>
              <a:t> </a:t>
            </a:r>
            <a:r>
              <a:rPr lang="de-DE" sz="1000" b="1" dirty="0" err="1">
                <a:solidFill>
                  <a:srgbClr val="58645B"/>
                </a:solidFill>
                <a:latin typeface="Aptos"/>
              </a:rPr>
              <a:t>failure</a:t>
            </a:r>
            <a:r>
              <a:rPr lang="de-DE" sz="1000" b="1" dirty="0">
                <a:solidFill>
                  <a:srgbClr val="58645B"/>
                </a:solidFill>
                <a:latin typeface="Aptos"/>
              </a:rPr>
              <a:t> </a:t>
            </a:r>
            <a:endParaRPr sz="1000" b="1" dirty="0">
              <a:solidFill>
                <a:srgbClr val="58645B"/>
              </a:solidFill>
              <a:latin typeface="Aptos"/>
            </a:endParaRPr>
          </a:p>
        </p:txBody>
      </p:sp>
      <p:sp>
        <p:nvSpPr>
          <p:cNvPr id="24" name="Rounded Rectangle 17"/>
          <p:cNvSpPr/>
          <p:nvPr/>
        </p:nvSpPr>
        <p:spPr>
          <a:xfrm>
            <a:off x="7397496" y="333756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8"/>
          <p:cNvSpPr txBox="1"/>
          <p:nvPr/>
        </p:nvSpPr>
        <p:spPr>
          <a:xfrm>
            <a:off x="7562088" y="348386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DFF5E4"/>
                </a:solidFill>
                <a:latin typeface="Aptos"/>
              </a:rPr>
              <a:t>Notification</a:t>
            </a:r>
          </a:p>
        </p:txBody>
      </p:sp>
      <p:sp>
        <p:nvSpPr>
          <p:cNvPr id="26" name="TextBox 19"/>
          <p:cNvSpPr txBox="1"/>
          <p:nvPr/>
        </p:nvSpPr>
        <p:spPr>
          <a:xfrm>
            <a:off x="7562088" y="3794760"/>
            <a:ext cx="256032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de-DE" sz="1150" b="0" dirty="0">
                <a:solidFill>
                  <a:srgbClr val="FFFFFF"/>
                </a:solidFill>
                <a:latin typeface="Aptos"/>
              </a:rPr>
              <a:t>Alert via </a:t>
            </a:r>
            <a:r>
              <a:rPr lang="de-DE" sz="1150" dirty="0" err="1">
                <a:solidFill>
                  <a:srgbClr val="FFFFFF"/>
                </a:solidFill>
                <a:latin typeface="Aptos"/>
              </a:rPr>
              <a:t>emails</a:t>
            </a:r>
            <a:r>
              <a:rPr sz="1150" b="0" dirty="0">
                <a:solidFill>
                  <a:srgbClr val="FFFFFF"/>
                </a:solidFill>
                <a:latin typeface="Aptos"/>
              </a:rPr>
              <a:t> on errors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C18B-D69B-3CCF-0DD2-FBA71514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52794-9615-21CD-7BCD-98243930C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34951"/>
            <a:ext cx="11522075" cy="679223"/>
          </a:xfrm>
        </p:spPr>
        <p:txBody>
          <a:bodyPr wrap="square" anchor="t"/>
          <a:lstStyle/>
          <a:p>
            <a:r>
              <a:rPr lang="de-DE" dirty="0">
                <a:solidFill>
                  <a:srgbClr val="005020"/>
                </a:solidFill>
                <a:latin typeface="Aptos"/>
              </a:rPr>
              <a:t>AUTOMATED TESTING – WHEN &amp; WHY</a:t>
            </a:r>
            <a:endParaRPr sz="27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A1FF53-835F-1C5E-A7F2-7516B1C6CFE5}"/>
              </a:ext>
            </a:extLst>
          </p:cNvPr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EB028-565D-9E6F-8CD3-304950ACA325}"/>
              </a:ext>
            </a:extLst>
          </p:cNvPr>
          <p:cNvSpPr txBox="1"/>
          <p:nvPr/>
        </p:nvSpPr>
        <p:spPr>
          <a:xfrm>
            <a:off x="791988" y="1453240"/>
            <a:ext cx="10601141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000" b="1" dirty="0">
                <a:solidFill>
                  <a:srgbClr val="005C2D"/>
                </a:solidFill>
              </a:rPr>
              <a:t>Critical code logic validated independently from monthly Airflow data run by </a:t>
            </a:r>
            <a:r>
              <a:rPr lang="en-US" sz="2000" b="1" dirty="0" err="1">
                <a:solidFill>
                  <a:srgbClr val="005C2D"/>
                </a:solidFill>
              </a:rPr>
              <a:t>pytest</a:t>
            </a:r>
            <a:r>
              <a:rPr lang="en-US" sz="2000" b="1" dirty="0">
                <a:solidFill>
                  <a:srgbClr val="005C2D"/>
                </a:solidFill>
              </a:rPr>
              <a:t> 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05B13BF-361D-2FA3-A89E-5EE8F4F160CE}"/>
              </a:ext>
            </a:extLst>
          </p:cNvPr>
          <p:cNvSpPr/>
          <p:nvPr/>
        </p:nvSpPr>
        <p:spPr>
          <a:xfrm>
            <a:off x="830327" y="1910440"/>
            <a:ext cx="4663437" cy="160705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043B3-7FDF-106D-0282-5A284CFD559E}"/>
              </a:ext>
            </a:extLst>
          </p:cNvPr>
          <p:cNvSpPr txBox="1"/>
          <p:nvPr/>
        </p:nvSpPr>
        <p:spPr>
          <a:xfrm>
            <a:off x="1104648" y="1982120"/>
            <a:ext cx="20116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100" b="1" dirty="0">
                <a:solidFill>
                  <a:srgbClr val="DFF5E4"/>
                </a:solidFill>
                <a:latin typeface="Aptos"/>
              </a:rPr>
              <a:t>WHAT IS TESTED?</a:t>
            </a:r>
            <a:endParaRPr sz="1100" b="1" dirty="0">
              <a:solidFill>
                <a:srgbClr val="DFF5E4"/>
              </a:solidFill>
              <a:latin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4C497-EEF3-2603-ECC1-72D2CD5BBAB7}"/>
              </a:ext>
            </a:extLst>
          </p:cNvPr>
          <p:cNvSpPr txBox="1"/>
          <p:nvPr/>
        </p:nvSpPr>
        <p:spPr>
          <a:xfrm>
            <a:off x="1104648" y="2154682"/>
            <a:ext cx="347472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</a:t>
            </a:r>
            <a:r>
              <a:rPr lang="de-DE" dirty="0" err="1"/>
              <a:t>schema</a:t>
            </a:r>
            <a:r>
              <a:rPr lang="de-DE" dirty="0"/>
              <a:t> </a:t>
            </a:r>
            <a:r>
              <a:rPr lang="de-DE" dirty="0" err="1"/>
              <a:t>validation</a:t>
            </a:r>
            <a:endParaRPr lang="de-DE"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</a:t>
            </a:r>
            <a:r>
              <a:rPr lang="de-DE" dirty="0" err="1"/>
              <a:t>data</a:t>
            </a:r>
            <a:r>
              <a:rPr lang="de-DE" dirty="0"/>
              <a:t>-quality </a:t>
            </a:r>
            <a:r>
              <a:rPr lang="de-DE" dirty="0" err="1"/>
              <a:t>rules</a:t>
            </a:r>
            <a:r>
              <a:rPr lang="de-DE" dirty="0"/>
              <a:t> &amp; route </a:t>
            </a:r>
            <a:r>
              <a:rPr lang="de-DE" dirty="0" err="1"/>
              <a:t>logic</a:t>
            </a:r>
            <a:endParaRPr lang="de-DE"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• </a:t>
            </a:r>
            <a:r>
              <a:rPr lang="de-DE" dirty="0" err="1"/>
              <a:t>Silver</a:t>
            </a:r>
            <a:r>
              <a:rPr lang="de-DE" dirty="0"/>
              <a:t> &amp;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path</a:t>
            </a:r>
            <a:r>
              <a:rPr lang="de-DE" dirty="0"/>
              <a:t> </a:t>
            </a:r>
            <a:r>
              <a:rPr lang="de-DE" dirty="0" err="1"/>
              <a:t>handling</a:t>
            </a:r>
            <a:endParaRPr lang="de-DE"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</a:t>
            </a:r>
            <a:r>
              <a:rPr lang="de-DE" dirty="0" err="1"/>
              <a:t>controlled</a:t>
            </a:r>
            <a:r>
              <a:rPr lang="de-DE" dirty="0"/>
              <a:t> </a:t>
            </a:r>
            <a:r>
              <a:rPr lang="de-DE" dirty="0" err="1"/>
              <a:t>failure</a:t>
            </a:r>
            <a:r>
              <a:rPr lang="de-DE" dirty="0"/>
              <a:t> </a:t>
            </a:r>
            <a:r>
              <a:rPr lang="de-DE" dirty="0" err="1"/>
              <a:t>behaviour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E0B06-7584-1C52-23D6-72FC4B14AB7D}"/>
              </a:ext>
            </a:extLst>
          </p:cNvPr>
          <p:cNvSpPr txBox="1"/>
          <p:nvPr/>
        </p:nvSpPr>
        <p:spPr>
          <a:xfrm>
            <a:off x="868680" y="5605272"/>
            <a:ext cx="9601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de-DE"/>
            </a:defPPr>
            <a:lvl1pPr algn="ctr">
              <a:defRPr sz="1600" b="1">
                <a:solidFill>
                  <a:srgbClr val="58645B"/>
                </a:solidFill>
                <a:latin typeface="Aptos"/>
              </a:defRPr>
            </a:lvl1pPr>
          </a:lstStyle>
          <a:p>
            <a:r>
              <a:rPr lang="en-US" dirty="0"/>
              <a:t>Monthly Airflow quality checks validate new data – </a:t>
            </a:r>
            <a:r>
              <a:rPr lang="en-US" dirty="0" err="1"/>
              <a:t>pytest</a:t>
            </a:r>
            <a:r>
              <a:rPr lang="en-US" dirty="0"/>
              <a:t> validates the code when the code changes.</a:t>
            </a:r>
            <a:endParaRPr dirty="0"/>
          </a:p>
        </p:txBody>
      </p:sp>
      <p:sp>
        <p:nvSpPr>
          <p:cNvPr id="12" name="TextBox 22">
            <a:extLst>
              <a:ext uri="{FF2B5EF4-FFF2-40B4-BE49-F238E27FC236}">
                <a16:creationId xmlns:a16="http://schemas.microsoft.com/office/drawing/2014/main" id="{AA1A3F1D-78DF-88CB-9B00-D668F914EDCA}"/>
              </a:ext>
            </a:extLst>
          </p:cNvPr>
          <p:cNvSpPr txBox="1"/>
          <p:nvPr/>
        </p:nvSpPr>
        <p:spPr>
          <a:xfrm>
            <a:off x="2743200" y="5876636"/>
            <a:ext cx="63093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000" b="1" dirty="0">
                <a:latin typeface="Aptos" panose="020B0004020202020204" pitchFamily="34" charset="0"/>
              </a:rPr>
              <a:t>Current setup: </a:t>
            </a:r>
            <a:r>
              <a:rPr lang="en-US" sz="1000" b="1" dirty="0" err="1">
                <a:latin typeface="Aptos" panose="020B0004020202020204" pitchFamily="34" charset="0"/>
              </a:rPr>
              <a:t>pytest</a:t>
            </a:r>
            <a:r>
              <a:rPr lang="en-US" sz="1000" b="1" dirty="0">
                <a:latin typeface="Aptos" panose="020B0004020202020204" pitchFamily="34" charset="0"/>
              </a:rPr>
              <a:t> is started manually - it is not part of the Airflow DAG.</a:t>
            </a:r>
            <a:r>
              <a:rPr lang="de-DE" sz="1000" b="1" dirty="0">
                <a:solidFill>
                  <a:srgbClr val="58645B"/>
                </a:solidFill>
                <a:latin typeface="Aptos" panose="020B0004020202020204" pitchFamily="34" charset="0"/>
              </a:rPr>
              <a:t> </a:t>
            </a:r>
            <a:endParaRPr sz="1000" b="1" dirty="0">
              <a:solidFill>
                <a:srgbClr val="58645B"/>
              </a:solidFill>
              <a:latin typeface="Aptos" panose="020B0004020202020204" pitchFamily="34" charset="0"/>
            </a:endParaRP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1AEDAAA8-F657-70D1-C28F-A8C1295D4861}"/>
              </a:ext>
            </a:extLst>
          </p:cNvPr>
          <p:cNvSpPr/>
          <p:nvPr/>
        </p:nvSpPr>
        <p:spPr>
          <a:xfrm>
            <a:off x="830327" y="3617750"/>
            <a:ext cx="4663437" cy="160705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6D658B2B-16FB-1101-F7A6-8ABED01A4B6F}"/>
              </a:ext>
            </a:extLst>
          </p:cNvPr>
          <p:cNvSpPr txBox="1"/>
          <p:nvPr/>
        </p:nvSpPr>
        <p:spPr>
          <a:xfrm>
            <a:off x="1104648" y="3689430"/>
            <a:ext cx="2331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100" b="1" dirty="0">
                <a:solidFill>
                  <a:srgbClr val="DFF5E4"/>
                </a:solidFill>
                <a:latin typeface="Aptos"/>
              </a:rPr>
              <a:t>WHEN SHOULD TESTS BE RUN?</a:t>
            </a:r>
            <a:endParaRPr sz="1100" b="1" dirty="0">
              <a:solidFill>
                <a:srgbClr val="DFF5E4"/>
              </a:solidFill>
              <a:latin typeface="Aptos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30FF2E97-F4DC-D2F5-8786-D3AF3A3C1597}"/>
              </a:ext>
            </a:extLst>
          </p:cNvPr>
          <p:cNvSpPr txBox="1"/>
          <p:nvPr/>
        </p:nvSpPr>
        <p:spPr>
          <a:xfrm>
            <a:off x="1104646" y="3861992"/>
            <a:ext cx="4389119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• after </a:t>
            </a:r>
            <a:r>
              <a:rPr lang="de-DE" dirty="0" err="1"/>
              <a:t>changes</a:t>
            </a:r>
            <a:r>
              <a:rPr lang="de-DE" dirty="0"/>
              <a:t> to </a:t>
            </a:r>
            <a:r>
              <a:rPr lang="de-DE" dirty="0" err="1"/>
              <a:t>transformation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loading</a:t>
            </a:r>
            <a:r>
              <a:rPr lang="de-DE" dirty="0"/>
              <a:t> code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• </a:t>
            </a:r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commit</a:t>
            </a:r>
            <a:r>
              <a:rPr lang="de-DE" dirty="0"/>
              <a:t> / release / </a:t>
            </a:r>
            <a:r>
              <a:rPr lang="de-DE" dirty="0" err="1"/>
              <a:t>presentation</a:t>
            </a:r>
            <a:endParaRPr lang="de-DE"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• After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environment</a:t>
            </a:r>
            <a:r>
              <a:rPr lang="de-DE" dirty="0"/>
              <a:t> </a:t>
            </a:r>
            <a:r>
              <a:rPr lang="de-DE" dirty="0" err="1"/>
              <a:t>changes</a:t>
            </a:r>
            <a:endParaRPr lang="de-DE"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• Not </a:t>
            </a:r>
            <a:r>
              <a:rPr lang="de-DE" dirty="0" err="1"/>
              <a:t>simply</a:t>
            </a:r>
            <a:r>
              <a:rPr lang="de-DE" dirty="0"/>
              <a:t>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monthe</a:t>
            </a:r>
            <a:r>
              <a:rPr lang="de-DE" dirty="0"/>
              <a:t> </a:t>
            </a:r>
            <a:r>
              <a:rPr lang="de-DE" dirty="0" err="1"/>
              <a:t>arrives</a:t>
            </a:r>
            <a:endParaRPr dirty="0"/>
          </a:p>
        </p:txBody>
      </p:sp>
      <p:pic>
        <p:nvPicPr>
          <p:cNvPr id="20" name="Picture 5" descr="template_slide2_image.png">
            <a:extLst>
              <a:ext uri="{FF2B5EF4-FFF2-40B4-BE49-F238E27FC236}">
                <a16:creationId xmlns:a16="http://schemas.microsoft.com/office/drawing/2014/main" id="{4FE1A6CF-DB17-B3AF-43C1-5C46BB929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6" y="2154154"/>
            <a:ext cx="5120640" cy="284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60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CONSUMPTION LAYER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RELIABILITY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38" y="1453240"/>
            <a:ext cx="10587447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The Gold layer becomes an interactive decision layer </a:t>
            </a:r>
            <a:r>
              <a:rPr lang="de-DE" sz="19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1900" b="1" dirty="0">
                <a:solidFill>
                  <a:srgbClr val="005020"/>
                </a:solidFill>
                <a:latin typeface="Aptos"/>
              </a:rPr>
              <a:t> without exposing pipeline complexity.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86000"/>
            <a:ext cx="2971800" cy="173736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FF5E4"/>
                </a:solidFill>
                <a:latin typeface="Aptos"/>
              </a:rPr>
              <a:t>AIRLINES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072384"/>
            <a:ext cx="2560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KPI comparison and development over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286000"/>
            <a:ext cx="2971800" cy="173736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FF5E4"/>
                </a:solidFill>
                <a:latin typeface="Aptos"/>
              </a:rPr>
              <a:t>AIRPORTS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3072384"/>
            <a:ext cx="2560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FFFFFF"/>
                </a:solidFill>
                <a:latin typeface="Aptos"/>
              </a:rPr>
              <a:t>departure </a:t>
            </a:r>
            <a:r>
              <a:rPr lang="de-DE" sz="1400" b="0" dirty="0">
                <a:solidFill>
                  <a:srgbClr val="FFFFFF"/>
                </a:solidFill>
                <a:latin typeface="Aptos"/>
              </a:rPr>
              <a:t>&amp;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arrival</a:t>
            </a:r>
            <a:r>
              <a:rPr lang="de-DE" sz="1400" b="0" dirty="0">
                <a:solidFill>
                  <a:srgbClr val="FFFFFF"/>
                </a:solidFill>
                <a:latin typeface="Aptos"/>
              </a:rPr>
              <a:t> </a:t>
            </a:r>
            <a:r>
              <a:rPr lang="de-DE" sz="1400" b="0" dirty="0" err="1">
                <a:solidFill>
                  <a:srgbClr val="FFFFFF"/>
                </a:solidFill>
                <a:latin typeface="Aptos"/>
              </a:rPr>
              <a:t>reliability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</a:t>
            </a:r>
            <a:endParaRPr lang="de-DE" sz="1400" b="0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lang="de-DE" sz="1400" b="0" dirty="0" err="1">
                <a:solidFill>
                  <a:srgbClr val="FFFFFF"/>
                </a:solidFill>
                <a:latin typeface="Aptos"/>
              </a:rPr>
              <a:t>with</a:t>
            </a:r>
            <a:r>
              <a:rPr lang="de-DE" sz="1400" b="0" dirty="0">
                <a:solidFill>
                  <a:srgbClr val="FFFFFF"/>
                </a:solidFill>
                <a:latin typeface="Aptos"/>
              </a:rPr>
              <a:t> KPI and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286000"/>
            <a:ext cx="2971800" cy="173736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256032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FF5E4"/>
                </a:solidFill>
                <a:latin typeface="Aptos"/>
              </a:rPr>
              <a:t>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3072384"/>
            <a:ext cx="2560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comparison, map and specific-route analysis</a:t>
            </a:r>
          </a:p>
        </p:txBody>
      </p:sp>
      <p:sp>
        <p:nvSpPr>
          <p:cNvPr id="15" name="Rounded Rectangle 14">
            <a:hlinkClick r:id="rId2"/>
          </p:cNvPr>
          <p:cNvSpPr/>
          <p:nvPr/>
        </p:nvSpPr>
        <p:spPr>
          <a:xfrm>
            <a:off x="4069080" y="4809744"/>
            <a:ext cx="3749039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69080" y="4882896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5020"/>
                </a:solidFill>
                <a:latin typeface="Aptos"/>
              </a:rPr>
              <a:t>▶ OPEN LIVE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413248"/>
            <a:ext cx="7269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58645B"/>
                </a:solidFill>
                <a:latin typeface="Aptos"/>
              </a:rPr>
              <a:t>Live demo: Airlines → Airports → Routes - selected interactions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500" b="1" dirty="0">
                <a:solidFill>
                  <a:srgbClr val="005020"/>
                </a:solidFill>
                <a:latin typeface="Aptos"/>
              </a:rPr>
              <a:t>RE</a:t>
            </a:r>
            <a:r>
              <a:rPr lang="de-DE" sz="2500" b="1" dirty="0">
                <a:solidFill>
                  <a:srgbClr val="005020"/>
                </a:solidFill>
                <a:latin typeface="Aptos"/>
              </a:rPr>
              <a:t>SULTS</a:t>
            </a:r>
            <a:r>
              <a:rPr sz="2500" b="1" dirty="0">
                <a:solidFill>
                  <a:srgbClr val="005020"/>
                </a:solidFill>
                <a:latin typeface="Aptos"/>
              </a:rPr>
              <a:t> &amp;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4800600" cy="306324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0195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STAKEHOLDER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388620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reliable monthly KPI basis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airline, airport and route comparison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identify areas for deeper analysis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support decisions </a:t>
            </a:r>
            <a:r>
              <a:rPr lang="de-DE" dirty="0"/>
              <a:t>-</a:t>
            </a:r>
            <a:r>
              <a:rPr dirty="0"/>
              <a:t> not replace them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600200"/>
            <a:ext cx="4800600" cy="306324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72200" y="190195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NEXT 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400507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Descriptive → Diagnostic → Predictive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331720"/>
            <a:ext cx="3886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why did delays happen?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monitoring and alerting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cloud deployment / managed storage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delay and cancellation risk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828032"/>
            <a:ext cx="11234057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u="sng" dirty="0">
                <a:solidFill>
                  <a:srgbClr val="005020"/>
                </a:solidFill>
                <a:latin typeface="Aptos"/>
              </a:rPr>
              <a:t>Reliable decisions require reliable data</a:t>
            </a:r>
            <a:r>
              <a:rPr lang="de-DE" sz="4000" b="1" u="sng" dirty="0">
                <a:solidFill>
                  <a:srgbClr val="005020"/>
                </a:solidFill>
                <a:latin typeface="Aptos"/>
              </a:rPr>
              <a:t>!</a:t>
            </a:r>
            <a:endParaRPr sz="4000" b="1" u="sng" dirty="0">
              <a:solidFill>
                <a:srgbClr val="005020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Standarddesign">
  <a:themeElements>
    <a:clrScheme name="1_Standarddesign 4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1_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aa5a65c-f4ce-4ee4-acf7-5e3b2ace5bfd">
      <Terms xmlns="http://schemas.microsoft.com/office/infopath/2007/PartnerControls"/>
    </lcf76f155ced4ddcb4097134ff3c332f>
    <TaxCatchAll xmlns="66bb7404-1a7c-4cd5-b899-503b4f4a783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D9D0312D38F94DA02BEC0C7012E0F5" ma:contentTypeVersion="11" ma:contentTypeDescription="Create a new document." ma:contentTypeScope="" ma:versionID="9a73361d995b0bed58ef5b3962fcd148">
  <xsd:schema xmlns:xsd="http://www.w3.org/2001/XMLSchema" xmlns:xs="http://www.w3.org/2001/XMLSchema" xmlns:p="http://schemas.microsoft.com/office/2006/metadata/properties" xmlns:ns2="9aa5a65c-f4ce-4ee4-acf7-5e3b2ace5bfd" xmlns:ns3="66bb7404-1a7c-4cd5-b899-503b4f4a7830" targetNamespace="http://schemas.microsoft.com/office/2006/metadata/properties" ma:root="true" ma:fieldsID="a85bbe206d45265116e8c51ee0380a62" ns2:_="" ns3:_="">
    <xsd:import namespace="9aa5a65c-f4ce-4ee4-acf7-5e3b2ace5bfd"/>
    <xsd:import namespace="66bb7404-1a7c-4cd5-b899-503b4f4a78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a5a65c-f4ce-4ee4-acf7-5e3b2ace5b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7477ac3-f545-472d-8d20-30ed4bfec3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b7404-1a7c-4cd5-b899-503b4f4a783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60eb3ab-e356-4c36-b4b3-0b6a41deb75f}" ma:internalName="TaxCatchAll" ma:showField="CatchAllData" ma:web="66bb7404-1a7c-4cd5-b899-503b4f4a783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B8EBE4-FC2B-439D-83E4-1FC00013EB90}">
  <ds:schemaRefs>
    <ds:schemaRef ds:uri="http://schemas.microsoft.com/office/2006/metadata/properties"/>
    <ds:schemaRef ds:uri="http://schemas.microsoft.com/office/infopath/2007/PartnerControls"/>
    <ds:schemaRef ds:uri="9aa5a65c-f4ce-4ee4-acf7-5e3b2ace5bfd"/>
    <ds:schemaRef ds:uri="66bb7404-1a7c-4cd5-b899-503b4f4a7830"/>
  </ds:schemaRefs>
</ds:datastoreItem>
</file>

<file path=customXml/itemProps2.xml><?xml version="1.0" encoding="utf-8"?>
<ds:datastoreItem xmlns:ds="http://schemas.openxmlformats.org/officeDocument/2006/customXml" ds:itemID="{D9BC1E96-25F1-44B9-8174-507263BA1D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a5a65c-f4ce-4ee4-acf7-5e3b2ace5bfd"/>
    <ds:schemaRef ds:uri="66bb7404-1a7c-4cd5-b899-503b4f4a78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732050-07CB-4EA1-8B62-F2C4125C0D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930</Words>
  <Application>Microsoft Office PowerPoint</Application>
  <PresentationFormat>Breitbild</PresentationFormat>
  <Paragraphs>195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21" baseType="lpstr">
      <vt:lpstr>Aptos</vt:lpstr>
      <vt:lpstr>Arial</vt:lpstr>
      <vt:lpstr>Helvetica</vt:lpstr>
      <vt:lpstr>Helvetica-Bold</vt:lpstr>
      <vt:lpstr>Lato</vt:lpstr>
      <vt:lpstr>Symbol</vt:lpstr>
      <vt:lpstr>Tahoma</vt:lpstr>
      <vt:lpstr>1_Standarddesign</vt:lpstr>
      <vt:lpstr>AIRLINE RELIABILITY DATA PIPELINE</vt:lpstr>
      <vt:lpstr>ABOUT ME &amp; PRESENTATION FOCUS</vt:lpstr>
      <vt:lpstr>MOTIVATION &amp; GOALS - TWO PERSPECTIVES</vt:lpstr>
      <vt:lpstr>STAKEHOLDER &amp; DECISION DIMENSIONS</vt:lpstr>
      <vt:lpstr>DATA SOURCE &amp; DATA PROBLEM</vt:lpstr>
      <vt:lpstr>ENGINEERING QUESTION &amp; ARCHITECTURE</vt:lpstr>
      <vt:lpstr>INGESTION &amp; BRONZE - PRESERVE THE SOURCE</vt:lpstr>
      <vt:lpstr>SILVER &amp; DATA QUALITY — CREATE TRUST</vt:lpstr>
      <vt:lpstr>DATA MODEL &amp; GOLD MARTS</vt:lpstr>
      <vt:lpstr>AIRFLOW - FROM SCRIPTS TO PIPELINE</vt:lpstr>
      <vt:lpstr>AUTOMATED TESTING – WHEN &amp; WHY</vt:lpstr>
      <vt:lpstr>CONSUMPTION LAYER - RELIABILITY DASHBOARD</vt:lpstr>
      <vt:lpstr>RESULTS &amp; 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Julia Nadolny</dc:creator>
  <cp:lastModifiedBy>Peter Blechert</cp:lastModifiedBy>
  <cp:revision>8</cp:revision>
  <dcterms:created xsi:type="dcterms:W3CDTF">2024-02-05T11:33:07Z</dcterms:created>
  <dcterms:modified xsi:type="dcterms:W3CDTF">2026-09-02T09:24:29Z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0x0101006CD9D0312D38F94DA02BEC0C7012E0F5</vt:lpwstr>
  </property>
</Properties>
</file>